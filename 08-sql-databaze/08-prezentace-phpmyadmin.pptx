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5" r:id="rId6"/>
    <p:sldId id="260" r:id="rId7"/>
    <p:sldId id="27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96" r:id="rId16"/>
    <p:sldId id="297" r:id="rId17"/>
    <p:sldId id="268" r:id="rId18"/>
    <p:sldId id="270" r:id="rId19"/>
    <p:sldId id="271" r:id="rId20"/>
    <p:sldId id="273" r:id="rId21"/>
    <p:sldId id="274" r:id="rId22"/>
    <p:sldId id="275" r:id="rId23"/>
    <p:sldId id="276" r:id="rId24"/>
    <p:sldId id="277" r:id="rId25"/>
    <p:sldId id="278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BB97BA2-43FB-4EDA-AC0F-811B0F39F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14710FA-191A-482D-9A2F-6158E1D56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5CCE72F-1469-4302-863F-07A00642A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197C5A6-0E48-484B-861D-FD00A6AB9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BDB5832-9617-40A7-A50E-A1F128DB0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51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B6D314-452A-498E-BDC5-02898C590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A2F6B1D-AD8C-42A0-927F-06AE119EC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DC5348E-790D-4A15-9F84-63AD050EF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31DDBA1-495D-4A0F-9D24-56DFF818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FF0BB28-25FE-4577-9387-18E01EAC4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215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08E032-475C-454C-92E8-E37C4956E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D17D9A1-3A60-4CC1-A8BC-E1BCCBFA9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477C2A0-82A7-496C-B6CD-0ADE9F43C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7B66C13-DA99-4D85-B225-B85E2BF84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A3753E8-E8B0-470B-A38E-04C533E2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00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11E1BDF-C785-473F-9F3C-0884C11B2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D110D2E-81F0-49A0-A7EC-82B694FEB4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A48B6CC9-47DC-441D-8EEF-3E0503C3D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7F617C0D-7879-4158-8BCE-3CF5919F8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F0D63BC-3CB0-41D3-A836-0D8B09646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A3F25CE1-202D-44F2-8399-511F73545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1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3500DC-FB3A-4965-A6C2-C27FEFEA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A3258AB-B0C8-466A-B4EE-488142C36F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52FCFC25-0CF3-4109-89A5-87125826B0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854B2F00-0460-472E-9043-56B89D1DB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2CE6C1A5-AB1B-4E21-B78D-8E521F1D97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9E6E9D2B-988B-4B6C-90B5-C5AD3CB56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75EC8608-E97A-4989-A8E4-5118EA402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474EAC30-2FAA-4867-B504-721EC0432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961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E90723F-C9C5-448E-AF32-8269FAA60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991C2F22-310F-4DEE-8478-D0FF2D438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D3A2026-C8F0-48E2-94C4-2D5F8B85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12DCCDD-59AB-40BF-A1A5-AFA0D6B6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60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26C711CB-45B2-448A-8306-E5BFACD8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550C0D54-3C50-409D-A99C-73410A44D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FC58B1A-88E4-4645-BF84-D3D7F537E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19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00F8396-8680-463A-82E9-0CA5A1788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72489B-768A-44C7-AC28-F0AC664D0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B22BE36-6A9B-4C0A-BA49-75EC739ED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6034DFE8-748E-4B53-B774-B0908F82A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82B2ACF-E94D-4261-9FBC-BEDD8D5B8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DF647B4-D6AF-4DF5-A779-4056D2FA5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5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987730-E22B-4F3F-BE93-0526D9ACA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B809868-DFD8-49C4-A32B-F041B1BCE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764ADDB-F6DB-4507-9A8C-9768BCA73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171B87C-F237-4838-8CE6-08B940B75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0F002B1D-695B-4230-B43D-3ACF8B9A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14BCA6-FFEF-40F2-B3B9-2DFAB1779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19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A237671-CDB5-41B2-B78E-D5A71FC14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CE80768C-D380-42DF-B947-4094AD694F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80A8139-F62C-4CC6-BC60-97C2D6BC2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BB0F0650-28F5-434C-9AAC-9E69277B1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9E8D020-3D37-4257-958C-B0B66F65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72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93FFE8ED-6001-4A13-8326-0059A8AA32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760566BC-B6E8-49A7-9BF5-77961BC38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88CECB4-B23F-498B-BB89-50C922FE6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1943831-CDAF-460B-BF7B-00B550AD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7E6BD70F-CB77-4BF9-A98B-46F73C94A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33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31E5189A-CDCC-4A5B-83D3-D31074A15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6D0C32A-2CDB-4DE5-ADE1-0CEF15C69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A92FCD1-D862-4DED-A84D-6B2C35095C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867D71-9844-470F-AC9F-FDA455409775}" type="datetimeFigureOut">
              <a:rPr lang="en-US" smtClean="0"/>
              <a:t>3/22/2026</a:t>
            </a:fld>
            <a:endParaRPr lang="en-US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16EE50-6582-4E64-A170-72BC3893C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21411A7-82D7-464F-A53C-B58DA7DE34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A4DF06-F140-4803-B840-2FA074D8FB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5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1D1D084-DD7D-4A34-837B-D1D05E1267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Ukázka použití nástroje </a:t>
            </a:r>
            <a:r>
              <a:rPr lang="cs-CZ" dirty="0" err="1"/>
              <a:t>phpMyAdmin</a:t>
            </a:r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D83DFC86-DE1C-41C2-A258-12D08290A5C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80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35AC16-4AD2-44BC-B2CB-58005EE0A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A5595AA-610A-4659-BC7A-27CB5A0CD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90804F63-90A3-4902-A4B2-2EEE9379D7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4765"/>
            <a:ext cx="12192000" cy="71628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B07623F-9E89-4782-915B-45427E1B1FA3}"/>
              </a:ext>
            </a:extLst>
          </p:cNvPr>
          <p:cNvSpPr txBox="1"/>
          <p:nvPr/>
        </p:nvSpPr>
        <p:spPr>
          <a:xfrm>
            <a:off x="6533322" y="1825625"/>
            <a:ext cx="372386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 err="1"/>
              <a:t>phpMyAdmin</a:t>
            </a:r>
            <a:r>
              <a:rPr lang="cs-CZ" dirty="0"/>
              <a:t> si budeme ukazovat na školním výukovém serveru eso.vse.cz</a:t>
            </a:r>
          </a:p>
          <a:p>
            <a:r>
              <a:rPr lang="cs-CZ" dirty="0"/>
              <a:t>Odkaz na něj najdete na </a:t>
            </a:r>
            <a:r>
              <a:rPr lang="cs-CZ" dirty="0" err="1"/>
              <a:t>homepage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Pokud s ním budete pracovat někde jinde, je možné, že budete mít trošku jinou verzi – základní vlastnosti ale budou stejné.</a:t>
            </a:r>
            <a:endParaRPr lang="en-US" dirty="0"/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B6BC86D7-B095-4C65-A851-607DA014D333}"/>
              </a:ext>
            </a:extLst>
          </p:cNvPr>
          <p:cNvSpPr/>
          <p:nvPr/>
        </p:nvSpPr>
        <p:spPr>
          <a:xfrm>
            <a:off x="274982" y="954174"/>
            <a:ext cx="1126435" cy="27781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2015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E0EC3AC7-1D31-E1EA-F76C-DD492F98BB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404" y="0"/>
            <a:ext cx="11673191" cy="6857999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6360AD97-7512-4ACC-A8CF-598F918B901A}"/>
              </a:ext>
            </a:extLst>
          </p:cNvPr>
          <p:cNvSpPr/>
          <p:nvPr/>
        </p:nvSpPr>
        <p:spPr>
          <a:xfrm>
            <a:off x="5562793" y="3595117"/>
            <a:ext cx="2149971" cy="846776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3A6F99A-0CCE-44C2-AFF7-2F9FE68867ED}"/>
              </a:ext>
            </a:extLst>
          </p:cNvPr>
          <p:cNvSpPr txBox="1"/>
          <p:nvPr/>
        </p:nvSpPr>
        <p:spPr>
          <a:xfrm>
            <a:off x="7560365" y="5159070"/>
            <a:ext cx="4267200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se budete muset přihlásit.</a:t>
            </a:r>
          </a:p>
          <a:p>
            <a:endParaRPr lang="cs-CZ" dirty="0"/>
          </a:p>
          <a:p>
            <a:r>
              <a:rPr lang="cs-CZ" dirty="0"/>
              <a:t>Heslo najdete ve svém domovském adresáři na </a:t>
            </a:r>
            <a:r>
              <a:rPr lang="cs-CZ" dirty="0" err="1"/>
              <a:t>sftp</a:t>
            </a:r>
            <a:r>
              <a:rPr lang="cs-CZ" dirty="0"/>
              <a:t>, v souboru mysql-heslo.txt.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1607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90206638-B411-7E2B-8376-361D236DF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465E705-B665-4992-9DEE-05105A71CD4D}"/>
              </a:ext>
            </a:extLst>
          </p:cNvPr>
          <p:cNvSpPr txBox="1"/>
          <p:nvPr/>
        </p:nvSpPr>
        <p:spPr>
          <a:xfrm>
            <a:off x="1530626" y="4001294"/>
            <a:ext cx="9130748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přihlášení se vám zobrazí hlavní rozhraní programu.</a:t>
            </a:r>
          </a:p>
          <a:p>
            <a:endParaRPr lang="cs-CZ" dirty="0"/>
          </a:p>
          <a:p>
            <a:r>
              <a:rPr lang="cs-CZ" dirty="0"/>
              <a:t>V levém sloupci najdete přehled všech dostupných databází a v nich umístěných tabulek a </a:t>
            </a:r>
            <a:r>
              <a:rPr lang="cs-CZ" dirty="0" err="1"/>
              <a:t>view</a:t>
            </a:r>
            <a:r>
              <a:rPr lang="cs-CZ" dirty="0"/>
              <a:t>.</a:t>
            </a:r>
          </a:p>
          <a:p>
            <a:r>
              <a:rPr lang="cs-CZ" dirty="0"/>
              <a:t>Na server eso máte databázi pojmenovanou podle svého uživatelského jména.</a:t>
            </a:r>
          </a:p>
          <a:p>
            <a:pPr marL="285750" indent="-285750">
              <a:buFontTx/>
              <a:buChar char="-"/>
            </a:pPr>
            <a:endParaRPr lang="cs-CZ" dirty="0"/>
          </a:p>
          <a:p>
            <a:r>
              <a:rPr lang="cs-CZ" dirty="0"/>
              <a:t>V pravé části pak najdete záložky, ve kterých můžete pracovat s vybranou DB, tabulkou atp.</a:t>
            </a:r>
          </a:p>
        </p:txBody>
      </p:sp>
    </p:spTree>
    <p:extLst>
      <p:ext uri="{BB962C8B-B14F-4D97-AF65-F5344CB8AC3E}">
        <p14:creationId xmlns:p14="http://schemas.microsoft.com/office/powerpoint/2010/main" val="4061826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88B16C-FA73-4DC8-AAE0-E9A68D43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C748703-9614-4E7F-848E-686C2A8FF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49D22F7-A24A-4FBD-B4BC-09C7C15B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DD5110F9-6AB7-45F1-AF92-5003B76BD396}"/>
              </a:ext>
            </a:extLst>
          </p:cNvPr>
          <p:cNvSpPr txBox="1"/>
          <p:nvPr/>
        </p:nvSpPr>
        <p:spPr>
          <a:xfrm>
            <a:off x="1729409" y="2583311"/>
            <a:ext cx="6553200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tedy klikněte na název databáze, se kterou chcete pracovat.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D547693-69D5-44A2-8654-248633128000}"/>
              </a:ext>
            </a:extLst>
          </p:cNvPr>
          <p:cNvSpPr/>
          <p:nvPr/>
        </p:nvSpPr>
        <p:spPr>
          <a:xfrm>
            <a:off x="434008" y="1964475"/>
            <a:ext cx="808383" cy="318018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690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5D4B7F9-7E44-4DD1-94FD-9271DD46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C88914E-8B8B-454D-AA61-EFC8471C8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5268075-46BA-A0A6-0E00-6A778A8E1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97C6813-AE89-48BC-9679-64C6CEB4D039}"/>
              </a:ext>
            </a:extLst>
          </p:cNvPr>
          <p:cNvSpPr txBox="1"/>
          <p:nvPr/>
        </p:nvSpPr>
        <p:spPr>
          <a:xfrm>
            <a:off x="2781300" y="3429000"/>
            <a:ext cx="8324022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Zatím v ní pravděpodobně nemáte žádné tabulky. Ale k těm až za chvíli…</a:t>
            </a:r>
          </a:p>
          <a:p>
            <a:endParaRPr lang="cs-CZ" dirty="0"/>
          </a:p>
          <a:p>
            <a:r>
              <a:rPr lang="cs-CZ" dirty="0"/>
              <a:t>Jako první operaci, kterou URČITĚ PROVEĎTE, je ZMĚNA VÝCHOZÍHO KÓDOVÁNÍ.</a:t>
            </a:r>
          </a:p>
          <a:p>
            <a:r>
              <a:rPr lang="cs-CZ" dirty="0"/>
              <a:t>Klikněte na záložku „Úpravy“.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DB1B0537-7507-4870-A3FB-3B08EF8A4870}"/>
              </a:ext>
            </a:extLst>
          </p:cNvPr>
          <p:cNvSpPr/>
          <p:nvPr/>
        </p:nvSpPr>
        <p:spPr>
          <a:xfrm>
            <a:off x="7665212" y="1027906"/>
            <a:ext cx="808383" cy="318018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6C9669-64F0-42E5-8FE4-7EFF7DADD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F357ABE-E63C-4645-B330-50ED5097A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04CA2C41-F470-DA69-9C32-E4CC6E7F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24209CDF-E4E7-46DE-94B2-3E835E63DC1D}"/>
              </a:ext>
            </a:extLst>
          </p:cNvPr>
          <p:cNvSpPr/>
          <p:nvPr/>
        </p:nvSpPr>
        <p:spPr>
          <a:xfrm>
            <a:off x="2853115" y="5136986"/>
            <a:ext cx="2160104" cy="31805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8F5AE2FC-68E4-4183-B8B0-82C999609024}"/>
              </a:ext>
            </a:extLst>
          </p:cNvPr>
          <p:cNvSpPr txBox="1"/>
          <p:nvPr/>
        </p:nvSpPr>
        <p:spPr>
          <a:xfrm>
            <a:off x="2781300" y="3429000"/>
            <a:ext cx="8324022" cy="13849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Vyberte si kódování utf8mb4.</a:t>
            </a:r>
            <a:br>
              <a:rPr lang="cs-CZ" sz="1600" dirty="0"/>
            </a:br>
            <a:r>
              <a:rPr lang="cs-CZ" sz="1600" dirty="0"/>
              <a:t>(jde o plnohodnotnou sadu UTF-8, starší kódování zde označené jako „utf8“ nepodporuje některé nové znaky – např. smajlíky)</a:t>
            </a:r>
          </a:p>
          <a:p>
            <a:endParaRPr lang="cs-CZ" sz="1600" dirty="0"/>
          </a:p>
          <a:p>
            <a:r>
              <a:rPr lang="cs-CZ" dirty="0"/>
              <a:t>Poté změny potvrďte příslušným tlačítkem „Proveď“.</a:t>
            </a:r>
            <a:endParaRPr lang="cs-CZ" sz="2000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AEB0F537-094B-48DF-90A1-0568015F5D1B}"/>
              </a:ext>
            </a:extLst>
          </p:cNvPr>
          <p:cNvSpPr/>
          <p:nvPr/>
        </p:nvSpPr>
        <p:spPr>
          <a:xfrm>
            <a:off x="10868342" y="6199427"/>
            <a:ext cx="775252" cy="31805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19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7847B4B-CC25-47ED-BBA8-1FA9C4CAD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421300D-13AA-40C3-8171-62ED9DC08D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F7F87027-8A18-F0F0-9928-BD160020E6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A763B6A-6C75-4EFF-A6C0-A4C906DA20E0}"/>
              </a:ext>
            </a:extLst>
          </p:cNvPr>
          <p:cNvSpPr txBox="1"/>
          <p:nvPr/>
        </p:nvSpPr>
        <p:spPr>
          <a:xfrm>
            <a:off x="4172778" y="3678128"/>
            <a:ext cx="645546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zpátky na záložku „Struktura“, kde si ukážeme vytváření tabulek.</a:t>
            </a:r>
          </a:p>
          <a:p>
            <a:r>
              <a:rPr lang="cs-CZ" dirty="0"/>
              <a:t>Budeme vytvářet tabulku „</a:t>
            </a:r>
            <a:r>
              <a:rPr lang="cs-CZ" dirty="0" err="1"/>
              <a:t>users</a:t>
            </a:r>
            <a:r>
              <a:rPr lang="cs-CZ" dirty="0"/>
              <a:t>“ se 3 sloupci.</a:t>
            </a:r>
          </a:p>
          <a:p>
            <a:endParaRPr lang="cs-CZ" dirty="0"/>
          </a:p>
          <a:p>
            <a:r>
              <a:rPr lang="cs-CZ" dirty="0"/>
              <a:t>Pokud si nejste jisti, kolik sloupců chcete mít, doporučuji zde zadat počet menší – jejich doplnění je jednodušší, než případné odebírání.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F1B7803C-018C-42A9-A716-DEFAA7C3DA54}"/>
              </a:ext>
            </a:extLst>
          </p:cNvPr>
          <p:cNvSpPr/>
          <p:nvPr/>
        </p:nvSpPr>
        <p:spPr>
          <a:xfrm>
            <a:off x="2501152" y="2208535"/>
            <a:ext cx="4482353" cy="902475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215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1BE22E-B55A-40FE-AD0F-BCDB4AD84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248F39-9421-4760-9268-7300C032B5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71A15E4-9294-7324-898B-5F01C4FA8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A99AC30E-EA47-4DD9-8F6F-5C3EC3494EE7}"/>
              </a:ext>
            </a:extLst>
          </p:cNvPr>
          <p:cNvSpPr txBox="1"/>
          <p:nvPr/>
        </p:nvSpPr>
        <p:spPr>
          <a:xfrm>
            <a:off x="6809961" y="4001294"/>
            <a:ext cx="396405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Zobrazí se vám tabulka, ve které můžete jednotlivé sloupce nastavit.</a:t>
            </a:r>
          </a:p>
        </p:txBody>
      </p:sp>
    </p:spTree>
    <p:extLst>
      <p:ext uri="{BB962C8B-B14F-4D97-AF65-F5344CB8AC3E}">
        <p14:creationId xmlns:p14="http://schemas.microsoft.com/office/powerpoint/2010/main" val="826841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EFE1C0E-EBCB-4133-91BB-92C69E6D3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6B84A534-147E-36C7-6936-C1528051A3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F1B0E301-587D-41A3-9C19-7F855A2072A0}"/>
              </a:ext>
            </a:extLst>
          </p:cNvPr>
          <p:cNvSpPr txBox="1"/>
          <p:nvPr/>
        </p:nvSpPr>
        <p:spPr>
          <a:xfrm>
            <a:off x="6809961" y="4001294"/>
            <a:ext cx="441385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Nejprve začneme sloupcem „</a:t>
            </a:r>
            <a:r>
              <a:rPr lang="cs-CZ" dirty="0" err="1"/>
              <a:t>user_id</a:t>
            </a:r>
            <a:r>
              <a:rPr lang="cs-CZ" dirty="0"/>
              <a:t>“, který bude obsahovat celá čísla (omezíme je na kladná).</a:t>
            </a:r>
          </a:p>
          <a:p>
            <a:endParaRPr lang="cs-CZ" dirty="0"/>
          </a:p>
          <a:p>
            <a:r>
              <a:rPr lang="cs-CZ" dirty="0"/>
              <a:t>V poli „Index“ jej označíme jako primární.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A8D2553-B9AE-4ADC-8098-866992218A5B}"/>
              </a:ext>
            </a:extLst>
          </p:cNvPr>
          <p:cNvSpPr/>
          <p:nvPr/>
        </p:nvSpPr>
        <p:spPr>
          <a:xfrm>
            <a:off x="339101" y="2814627"/>
            <a:ext cx="2825440" cy="614373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04C4A101-C25C-48B2-A427-40C2621AD0F0}"/>
              </a:ext>
            </a:extLst>
          </p:cNvPr>
          <p:cNvSpPr/>
          <p:nvPr/>
        </p:nvSpPr>
        <p:spPr>
          <a:xfrm>
            <a:off x="7604020" y="2856706"/>
            <a:ext cx="3350851" cy="572294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7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BC6A16-0AB3-4C47-994A-7C36A4C7B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63511B-BBA4-400B-8810-D7B9E1D03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5266341-3D5F-466D-3A56-A07E6C536B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8621C7A8-3C98-4524-94F4-48D1676F35BA}"/>
              </a:ext>
            </a:extLst>
          </p:cNvPr>
          <p:cNvSpPr txBox="1"/>
          <p:nvPr/>
        </p:nvSpPr>
        <p:spPr>
          <a:xfrm>
            <a:off x="7349013" y="4882174"/>
            <a:ext cx="3579743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potvrdíme vytvoření daného klíče.</a:t>
            </a:r>
          </a:p>
        </p:txBody>
      </p:sp>
    </p:spTree>
    <p:extLst>
      <p:ext uri="{BB962C8B-B14F-4D97-AF65-F5344CB8AC3E}">
        <p14:creationId xmlns:p14="http://schemas.microsoft.com/office/powerpoint/2010/main" val="10701883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1B1AE66-C78A-4F2F-A8E8-5939FF80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189C2E0-2C9C-4B73-9739-1B21D3793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AB7E9B2-EFC5-D632-B4AE-5571FF483B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59684AA7-7191-40A2-A473-EA201AAA79D6}"/>
              </a:ext>
            </a:extLst>
          </p:cNvPr>
          <p:cNvSpPr txBox="1"/>
          <p:nvPr/>
        </p:nvSpPr>
        <p:spPr>
          <a:xfrm>
            <a:off x="8082170" y="3816628"/>
            <a:ext cx="357974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Nakonec zvolíme pro daný sloupec vlastnost „auto </a:t>
            </a:r>
            <a:r>
              <a:rPr lang="cs-CZ" dirty="0" err="1"/>
              <a:t>increment</a:t>
            </a:r>
            <a:r>
              <a:rPr lang="cs-CZ" dirty="0"/>
              <a:t>“ – tj. chceme nové řádky označovat zvětšujícími se celými čísly.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5F36274-B463-4C24-B392-4FA390D0DC8B}"/>
              </a:ext>
            </a:extLst>
          </p:cNvPr>
          <p:cNvSpPr/>
          <p:nvPr/>
        </p:nvSpPr>
        <p:spPr>
          <a:xfrm>
            <a:off x="9057081" y="2941145"/>
            <a:ext cx="477078" cy="38889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842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76E1554-5E68-409F-885A-70A4A6B9B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42C1BC-0069-4254-AC74-A2DCDB5D6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DA3B6A0-DE2E-0DD7-C91C-F2113DA0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2A3CDF70-B20C-45BA-B83A-211CC6FB5381}"/>
              </a:ext>
            </a:extLst>
          </p:cNvPr>
          <p:cNvSpPr txBox="1"/>
          <p:nvPr/>
        </p:nvSpPr>
        <p:spPr>
          <a:xfrm>
            <a:off x="3629439" y="3429000"/>
            <a:ext cx="3579743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Dalším sloupcem bude „</a:t>
            </a:r>
            <a:r>
              <a:rPr lang="cs-CZ" dirty="0" err="1"/>
              <a:t>name</a:t>
            </a:r>
            <a:r>
              <a:rPr lang="cs-CZ" dirty="0"/>
              <a:t>“, který bude obsahovat textové řetězce o maximální zvolené délce – tj. VARCHAR.</a:t>
            </a:r>
          </a:p>
        </p:txBody>
      </p:sp>
    </p:spTree>
    <p:extLst>
      <p:ext uri="{BB962C8B-B14F-4D97-AF65-F5344CB8AC3E}">
        <p14:creationId xmlns:p14="http://schemas.microsoft.com/office/powerpoint/2010/main" val="26120886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448372-AB6F-442D-A0CD-EEAFD678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8851DE89-B47F-A714-7003-8F99898A46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9D37861-CDA6-4534-B2FC-EC60577DBCD7}"/>
              </a:ext>
            </a:extLst>
          </p:cNvPr>
          <p:cNvSpPr txBox="1"/>
          <p:nvPr/>
        </p:nvSpPr>
        <p:spPr>
          <a:xfrm>
            <a:off x="7517964" y="4942476"/>
            <a:ext cx="441463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Požadovanou maximální délku poté vložíme do sloupce „Délka/množina“.</a:t>
            </a:r>
          </a:p>
          <a:p>
            <a:endParaRPr lang="cs-CZ" dirty="0"/>
          </a:p>
          <a:p>
            <a:r>
              <a:rPr lang="cs-CZ" dirty="0"/>
              <a:t>A stejným způsobem poté začneme definovat sloupec „email“.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EC6E153-61FF-4FF7-890F-7C5E22FFF3EB}"/>
              </a:ext>
            </a:extLst>
          </p:cNvPr>
          <p:cNvSpPr/>
          <p:nvPr/>
        </p:nvSpPr>
        <p:spPr>
          <a:xfrm>
            <a:off x="365703" y="3565171"/>
            <a:ext cx="4308334" cy="1377305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15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448372-AB6F-442D-A0CD-EEAFD678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235D98-8790-49D9-A1E5-2E9F4A897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99E889B3-1E1C-744C-752F-DE56F07A1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9D37861-CDA6-4534-B2FC-EC60577DBCD7}"/>
              </a:ext>
            </a:extLst>
          </p:cNvPr>
          <p:cNvSpPr txBox="1"/>
          <p:nvPr/>
        </p:nvSpPr>
        <p:spPr>
          <a:xfrm>
            <a:off x="7025434" y="4280575"/>
            <a:ext cx="441463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Poté zkontrolujeme, že máme jako úložiště vybrané </a:t>
            </a:r>
            <a:r>
              <a:rPr lang="cs-CZ" dirty="0" err="1"/>
              <a:t>InnoDB</a:t>
            </a:r>
            <a:r>
              <a:rPr lang="cs-CZ" dirty="0"/>
              <a:t>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EC6E153-61FF-4FF7-890F-7C5E22FFF3EB}"/>
              </a:ext>
            </a:extLst>
          </p:cNvPr>
          <p:cNvSpPr/>
          <p:nvPr/>
        </p:nvSpPr>
        <p:spPr>
          <a:xfrm>
            <a:off x="6095998" y="5127812"/>
            <a:ext cx="1544198" cy="910717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2593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2448372-AB6F-442D-A0CD-EEAFD678B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B235D98-8790-49D9-A1E5-2E9F4A897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50B74B23-32FD-D545-2FD8-03948AA71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9D37861-CDA6-4534-B2FC-EC60577DBCD7}"/>
              </a:ext>
            </a:extLst>
          </p:cNvPr>
          <p:cNvSpPr txBox="1"/>
          <p:nvPr/>
        </p:nvSpPr>
        <p:spPr>
          <a:xfrm>
            <a:off x="4231244" y="5398025"/>
            <a:ext cx="4414631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Tlačítky pod formulářem pro nastavení si můžete buď jen nechat vygenerovat příslušný SQL CREATE, nebo nechat tabulku rovnou vytvořit.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7EC6E153-61FF-4FF7-890F-7C5E22FFF3EB}"/>
              </a:ext>
            </a:extLst>
          </p:cNvPr>
          <p:cNvSpPr/>
          <p:nvPr/>
        </p:nvSpPr>
        <p:spPr>
          <a:xfrm>
            <a:off x="323509" y="5846544"/>
            <a:ext cx="1653209" cy="64633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155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BB425-183E-47F7-AC24-A913B269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394EA1A-D469-4FBB-B702-EB52D09BF9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0A5ECFDF-59AE-5215-8CBC-7A010F3615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000A8E38-525E-44B3-B79D-9B16F0A54685}"/>
              </a:ext>
            </a:extLst>
          </p:cNvPr>
          <p:cNvSpPr txBox="1"/>
          <p:nvPr/>
        </p:nvSpPr>
        <p:spPr>
          <a:xfrm>
            <a:off x="5604012" y="4608443"/>
            <a:ext cx="4414631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To, co generuje </a:t>
            </a:r>
            <a:r>
              <a:rPr lang="cs-CZ" dirty="0" err="1"/>
              <a:t>phpMyAdmin</a:t>
            </a:r>
            <a:r>
              <a:rPr lang="cs-CZ" dirty="0"/>
              <a:t>, je opravdu normální SQL (které bychom mohli napsat i ručně).</a:t>
            </a:r>
          </a:p>
        </p:txBody>
      </p:sp>
    </p:spTree>
    <p:extLst>
      <p:ext uri="{BB962C8B-B14F-4D97-AF65-F5344CB8AC3E}">
        <p14:creationId xmlns:p14="http://schemas.microsoft.com/office/powerpoint/2010/main" val="458355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6BF56C-C19F-46A6-B380-7AC8B947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05CE44-73AB-4FC1-ADDA-C66869A7A6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8337096-225F-7E84-AE39-4935B63D75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404" y="0"/>
            <a:ext cx="11673191" cy="6857999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CD02DAE7-6014-4CB6-B9ED-27CFA73C8C23}"/>
              </a:ext>
            </a:extLst>
          </p:cNvPr>
          <p:cNvSpPr txBox="1"/>
          <p:nvPr/>
        </p:nvSpPr>
        <p:spPr>
          <a:xfrm>
            <a:off x="6796708" y="4104861"/>
            <a:ext cx="4414631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Struktura vytvořené tabulky poté vypadá takto.</a:t>
            </a:r>
          </a:p>
          <a:p>
            <a:endParaRPr lang="cs-CZ" dirty="0"/>
          </a:p>
          <a:p>
            <a:r>
              <a:rPr lang="cs-CZ" dirty="0"/>
              <a:t>V zobrazeném přehledu máte možnost sloupce přidávat, odebírat i upravovat.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0681DC8F-786E-4C12-8A72-0DF342240E79}"/>
              </a:ext>
            </a:extLst>
          </p:cNvPr>
          <p:cNvSpPr/>
          <p:nvPr/>
        </p:nvSpPr>
        <p:spPr>
          <a:xfrm>
            <a:off x="2491409" y="1690688"/>
            <a:ext cx="9261320" cy="1644183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28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C7473B-9944-49C2-BAB9-02AB4C159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846A09F-96A7-493C-88A4-D081160A6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2AA7813-4D48-E70A-E6B2-3327E7FF14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404" y="0"/>
            <a:ext cx="11673191" cy="6857999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4B30866-2F9E-4D42-90FA-B74E5E0E931A}"/>
              </a:ext>
            </a:extLst>
          </p:cNvPr>
          <p:cNvSpPr txBox="1"/>
          <p:nvPr/>
        </p:nvSpPr>
        <p:spPr>
          <a:xfrm>
            <a:off x="5335267" y="3823058"/>
            <a:ext cx="3553239" cy="286232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Jednoduše jim také můžete přidat další klíče (indexy).</a:t>
            </a:r>
          </a:p>
          <a:p>
            <a:endParaRPr lang="cs-CZ" dirty="0"/>
          </a:p>
          <a:p>
            <a:r>
              <a:rPr lang="cs-CZ" dirty="0"/>
              <a:t>Pro jeden sloupec tu k této operaci máme rovnou zobrazený odkaz.</a:t>
            </a:r>
          </a:p>
          <a:p>
            <a:endParaRPr lang="cs-CZ" dirty="0"/>
          </a:p>
          <a:p>
            <a:r>
              <a:rPr lang="cs-CZ" dirty="0"/>
              <a:t>Pokud chceme klíč složený, vybereme dané sloupce pomocí zatržítek a pro vytvoření klíče použijeme odkaz pod tabulkou.</a:t>
            </a:r>
          </a:p>
        </p:txBody>
      </p:sp>
    </p:spTree>
    <p:extLst>
      <p:ext uri="{BB962C8B-B14F-4D97-AF65-F5344CB8AC3E}">
        <p14:creationId xmlns:p14="http://schemas.microsoft.com/office/powerpoint/2010/main" val="31448279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DF78E4-6694-46DA-823F-47CF57CA4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66D8D41-95D1-4654-AF1D-904154993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68C16A99-4122-1502-5F22-AA67A7880B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9404" y="0"/>
            <a:ext cx="11673191" cy="6857999"/>
          </a:xfrm>
          <a:prstGeom prst="rect">
            <a:avLst/>
          </a:prstGeom>
        </p:spPr>
      </p:pic>
      <p:sp>
        <p:nvSpPr>
          <p:cNvPr id="7" name="TextovéPole 6">
            <a:extLst>
              <a:ext uri="{FF2B5EF4-FFF2-40B4-BE49-F238E27FC236}">
                <a16:creationId xmlns:a16="http://schemas.microsoft.com/office/drawing/2014/main" id="{4D679E63-828E-492A-8015-92342383FE19}"/>
              </a:ext>
            </a:extLst>
          </p:cNvPr>
          <p:cNvSpPr txBox="1"/>
          <p:nvPr/>
        </p:nvSpPr>
        <p:spPr>
          <a:xfrm>
            <a:off x="8173180" y="2624135"/>
            <a:ext cx="3553239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potvrzení nám </a:t>
            </a:r>
            <a:r>
              <a:rPr lang="cs-CZ" dirty="0" err="1"/>
              <a:t>phpMyAdmin</a:t>
            </a:r>
            <a:r>
              <a:rPr lang="cs-CZ" dirty="0"/>
              <a:t> ukáže SQL kód, který spustil.</a:t>
            </a:r>
          </a:p>
          <a:p>
            <a:endParaRPr lang="cs-CZ" dirty="0"/>
          </a:p>
          <a:p>
            <a:r>
              <a:rPr lang="cs-CZ" dirty="0"/>
              <a:t>Pod přehledem sloupců tabulky poté najdete přehled jednotlivých klíčů.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313C32A6-741C-430F-8A54-6FD93E88F96E}"/>
              </a:ext>
            </a:extLst>
          </p:cNvPr>
          <p:cNvSpPr/>
          <p:nvPr/>
        </p:nvSpPr>
        <p:spPr>
          <a:xfrm>
            <a:off x="2527267" y="5032126"/>
            <a:ext cx="7952473" cy="822107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79852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1DA1A5-BEC0-443A-B208-D07FEEF17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818C53A-C5D0-47CA-9CD4-1CE5507321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78ADF5F-2CF5-D2A4-61BF-F287E938B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D882535-5DEC-4CFE-899E-CD71F5D984E3}"/>
              </a:ext>
            </a:extLst>
          </p:cNvPr>
          <p:cNvSpPr txBox="1"/>
          <p:nvPr/>
        </p:nvSpPr>
        <p:spPr>
          <a:xfrm>
            <a:off x="6720948" y="5253633"/>
            <a:ext cx="3553239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 vybrané konkrétní tabulce máme na záložce „Vložit“ možnost přidávat nové záznamy.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5F784D3F-EA15-4F8D-8284-2ABF11B47A24}"/>
              </a:ext>
            </a:extLst>
          </p:cNvPr>
          <p:cNvSpPr/>
          <p:nvPr/>
        </p:nvSpPr>
        <p:spPr>
          <a:xfrm>
            <a:off x="5994661" y="975230"/>
            <a:ext cx="771112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77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F4174D-897D-4F5E-9951-E1D2E3B15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823584-4A24-4EDE-93FC-CAC328835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D807CE5-69A5-2191-16DD-FC175832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E37DF99-9FC0-4CBB-93E9-2FBC9652072D}"/>
              </a:ext>
            </a:extLst>
          </p:cNvPr>
          <p:cNvSpPr txBox="1"/>
          <p:nvPr/>
        </p:nvSpPr>
        <p:spPr>
          <a:xfrm>
            <a:off x="5493562" y="3653330"/>
            <a:ext cx="4224958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 záložce SQL pak můžeme psát příkazy ručně, si zde můžeme upravit příkazy vygenerované např. vkládacím formulářem.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23ED993D-3411-41D7-B9AD-A017E2B80172}"/>
              </a:ext>
            </a:extLst>
          </p:cNvPr>
          <p:cNvSpPr/>
          <p:nvPr/>
        </p:nvSpPr>
        <p:spPr>
          <a:xfrm>
            <a:off x="4157673" y="965151"/>
            <a:ext cx="771112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123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23BCE7-37BC-41FC-95B3-E4275BE4D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FB45C77-B05F-4C9B-84D5-0729E29D8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6C6D128E-09E8-421C-68C5-CBBA3A464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8FC41D3-7AF1-489E-8584-11F35438210D}"/>
              </a:ext>
            </a:extLst>
          </p:cNvPr>
          <p:cNvSpPr txBox="1"/>
          <p:nvPr/>
        </p:nvSpPr>
        <p:spPr>
          <a:xfrm>
            <a:off x="7800561" y="1569542"/>
            <a:ext cx="3553239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 záložce „Projít“ pak máte možnost procházet jednotlivé řádky tabulky, upravovat je a mazat.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C1C40852-CDC6-4F7F-B768-0580126FFC56}"/>
              </a:ext>
            </a:extLst>
          </p:cNvPr>
          <p:cNvSpPr/>
          <p:nvPr/>
        </p:nvSpPr>
        <p:spPr>
          <a:xfrm>
            <a:off x="2522591" y="974857"/>
            <a:ext cx="689113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95116E74-04FC-4308-B9D1-D130955EFD3F}"/>
              </a:ext>
            </a:extLst>
          </p:cNvPr>
          <p:cNvSpPr/>
          <p:nvPr/>
        </p:nvSpPr>
        <p:spPr>
          <a:xfrm>
            <a:off x="2522591" y="3320206"/>
            <a:ext cx="4631244" cy="773545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453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7E643C8-77AE-4504-B6E0-671BF324F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0274746-21AD-90FC-2FCB-C8E9378AC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07BF981-B9EA-48C5-9EFD-A2CFBCDC6320}"/>
              </a:ext>
            </a:extLst>
          </p:cNvPr>
          <p:cNvSpPr txBox="1"/>
          <p:nvPr/>
        </p:nvSpPr>
        <p:spPr>
          <a:xfrm>
            <a:off x="1645754" y="3662013"/>
            <a:ext cx="4450245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Když se přepneme zpět na databázi, najdeme v záložkách poté možnost pracovat s databází jako celkem.</a:t>
            </a:r>
          </a:p>
          <a:p>
            <a:endParaRPr lang="cs-CZ" dirty="0"/>
          </a:p>
          <a:p>
            <a:r>
              <a:rPr lang="cs-CZ" dirty="0"/>
              <a:t>Např. na záložce „Struktura“ najdeme všechny tabulky.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C89B3BD-E85E-414E-B210-E0E72CFD664A}"/>
              </a:ext>
            </a:extLst>
          </p:cNvPr>
          <p:cNvSpPr/>
          <p:nvPr/>
        </p:nvSpPr>
        <p:spPr>
          <a:xfrm>
            <a:off x="520342" y="2017835"/>
            <a:ext cx="689113" cy="256707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36C42C5-855D-9DDD-8BBD-B63EA8AC57FF}"/>
              </a:ext>
            </a:extLst>
          </p:cNvPr>
          <p:cNvSpPr/>
          <p:nvPr/>
        </p:nvSpPr>
        <p:spPr>
          <a:xfrm>
            <a:off x="2474648" y="1001011"/>
            <a:ext cx="976764" cy="325765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6170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DBFBA1-D278-4B77-B1C7-6FC235F38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04B2E91-73D5-41A1-81CD-A100D8650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2899AC99-36A0-CD67-905B-DEBDAE378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9CA6BF5-C15B-42DB-9130-E5B2E4222D4D}"/>
              </a:ext>
            </a:extLst>
          </p:cNvPr>
          <p:cNvSpPr txBox="1"/>
          <p:nvPr/>
        </p:nvSpPr>
        <p:spPr>
          <a:xfrm>
            <a:off x="6666770" y="4235512"/>
            <a:ext cx="3906906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Tady začneme s tvorbou další tabulky…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A002EA67-7F55-410F-93D3-FC72BF6955E5}"/>
              </a:ext>
            </a:extLst>
          </p:cNvPr>
          <p:cNvSpPr/>
          <p:nvPr/>
        </p:nvSpPr>
        <p:spPr>
          <a:xfrm>
            <a:off x="2558449" y="4679725"/>
            <a:ext cx="4281622" cy="663239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429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5F6B9F-A13E-4BAC-A57F-EC47D6CE0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DCA43C-6B69-4474-9945-E14FAA42F9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B18C7E2E-94C3-BBA2-6B0D-18EFD71A3F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830F94A-A3C8-40C3-A763-27C349301980}"/>
              </a:ext>
            </a:extLst>
          </p:cNvPr>
          <p:cNvSpPr txBox="1"/>
          <p:nvPr/>
        </p:nvSpPr>
        <p:spPr>
          <a:xfrm>
            <a:off x="7927443" y="4126364"/>
            <a:ext cx="3553239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Půjde o tabulku „</a:t>
            </a:r>
            <a:r>
              <a:rPr lang="cs-CZ" dirty="0" err="1"/>
              <a:t>posts</a:t>
            </a:r>
            <a:r>
              <a:rPr lang="cs-CZ" dirty="0"/>
              <a:t>“, ve které je jako první sloupec opět umělý celočíselný klíč s </a:t>
            </a:r>
            <a:r>
              <a:rPr lang="cs-CZ" dirty="0" err="1"/>
              <a:t>autoincrementem</a:t>
            </a:r>
            <a:r>
              <a:rPr lang="cs-CZ" dirty="0"/>
              <a:t>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14ADE4DC-ABC4-46F5-816F-EFA1A5F5896F}"/>
              </a:ext>
            </a:extLst>
          </p:cNvPr>
          <p:cNvSpPr/>
          <p:nvPr/>
        </p:nvSpPr>
        <p:spPr>
          <a:xfrm>
            <a:off x="347675" y="2802468"/>
            <a:ext cx="11133007" cy="62653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7413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8BDB0A-7F48-4248-9374-13A8A3AB9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4CD0D9D-1ADA-477E-BB2B-04BDBE7F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7420BE3B-1D0E-E350-AE44-76B0A0B89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6044568F-57A7-4353-BBD4-A83FEE33A806}"/>
              </a:ext>
            </a:extLst>
          </p:cNvPr>
          <p:cNvSpPr txBox="1"/>
          <p:nvPr/>
        </p:nvSpPr>
        <p:spPr>
          <a:xfrm>
            <a:off x="4097407" y="4451579"/>
            <a:ext cx="3553239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Dalším sloupcem bude „</a:t>
            </a:r>
            <a:r>
              <a:rPr lang="cs-CZ" dirty="0" err="1"/>
              <a:t>user_id</a:t>
            </a:r>
            <a:r>
              <a:rPr lang="cs-CZ" dirty="0"/>
              <a:t>“ a bude v něm zachycena vazba na tabulku s uživateli.</a:t>
            </a:r>
          </a:p>
          <a:p>
            <a:endParaRPr lang="cs-CZ" dirty="0"/>
          </a:p>
          <a:p>
            <a:r>
              <a:rPr lang="cs-CZ" dirty="0"/>
              <a:t>Aby mohl být klíč součástí </a:t>
            </a:r>
            <a:r>
              <a:rPr lang="cs-CZ" dirty="0" err="1"/>
              <a:t>foreign</a:t>
            </a:r>
            <a:r>
              <a:rPr lang="cs-CZ" dirty="0"/>
              <a:t> </a:t>
            </a:r>
            <a:r>
              <a:rPr lang="cs-CZ" dirty="0" err="1"/>
              <a:t>key</a:t>
            </a:r>
            <a:r>
              <a:rPr lang="cs-CZ" dirty="0"/>
              <a:t>, musí být zahrnut do klíče PRIMARY, UNIQUE nebo INDEX.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4E7891AF-D612-439F-8554-E505C6C29A63}"/>
              </a:ext>
            </a:extLst>
          </p:cNvPr>
          <p:cNvSpPr/>
          <p:nvPr/>
        </p:nvSpPr>
        <p:spPr>
          <a:xfrm>
            <a:off x="365994" y="3581146"/>
            <a:ext cx="8640820" cy="641229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CEB0B1BC-7C80-401E-B1A4-891E8694EDFA}"/>
              </a:ext>
            </a:extLst>
          </p:cNvPr>
          <p:cNvSpPr/>
          <p:nvPr/>
        </p:nvSpPr>
        <p:spPr>
          <a:xfrm>
            <a:off x="9585609" y="3717726"/>
            <a:ext cx="1464366" cy="1737833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257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8AADA3-9694-4885-AB7D-6C2521FDC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FEE295-5B57-4FDB-A138-1E27B45AB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AC07C6AF-6944-B179-BB51-2F32D2FC2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EE2BE72E-4895-4535-8AA1-1418965C48B7}"/>
              </a:ext>
            </a:extLst>
          </p:cNvPr>
          <p:cNvSpPr/>
          <p:nvPr/>
        </p:nvSpPr>
        <p:spPr>
          <a:xfrm>
            <a:off x="399879" y="4325494"/>
            <a:ext cx="2746733" cy="67681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9271CF68-631D-4525-872C-B9E0E2563043}"/>
              </a:ext>
            </a:extLst>
          </p:cNvPr>
          <p:cNvSpPr txBox="1"/>
          <p:nvPr/>
        </p:nvSpPr>
        <p:spPr>
          <a:xfrm>
            <a:off x="5235925" y="4182395"/>
            <a:ext cx="3553239" cy="1477328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Následně tu bude sloupec „text“. Datový typ „text“ slouží pro ukládání dlouhých textů a je z technického hlediska uložen mimo hlavní tabulku.</a:t>
            </a:r>
          </a:p>
        </p:txBody>
      </p:sp>
    </p:spTree>
    <p:extLst>
      <p:ext uri="{BB962C8B-B14F-4D97-AF65-F5344CB8AC3E}">
        <p14:creationId xmlns:p14="http://schemas.microsoft.com/office/powerpoint/2010/main" val="5489341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B2A105-AABF-446F-88E4-4A66D93E5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C2664BB-2F9B-49C2-AFE8-AD60E4EB26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3CF3598-97A6-1617-3C55-1455CA389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79BF1039-C56E-4A38-820A-BEB85C5FA1D5}"/>
              </a:ext>
            </a:extLst>
          </p:cNvPr>
          <p:cNvSpPr txBox="1"/>
          <p:nvPr/>
        </p:nvSpPr>
        <p:spPr>
          <a:xfrm>
            <a:off x="6314819" y="1154044"/>
            <a:ext cx="5218871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Posledním sloupcem bude „</a:t>
            </a:r>
            <a:r>
              <a:rPr lang="cs-CZ" dirty="0" err="1"/>
              <a:t>updated</a:t>
            </a:r>
            <a:r>
              <a:rPr lang="cs-CZ" dirty="0"/>
              <a:t>“, který bude typu TIMESTAMP a nastavíme ho tak, aby se aktualizoval při každé změně daného řádku.</a:t>
            </a:r>
          </a:p>
          <a:p>
            <a:endParaRPr lang="cs-CZ" dirty="0"/>
          </a:p>
          <a:p>
            <a:r>
              <a:rPr lang="cs-CZ" dirty="0"/>
              <a:t>Pozor, v tabulce může být jen jeden sloupec s automatickou aktualizací.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8E1AE6B6-54CD-4D80-8A20-FEEEE2605FE1}"/>
              </a:ext>
            </a:extLst>
          </p:cNvPr>
          <p:cNvSpPr/>
          <p:nvPr/>
        </p:nvSpPr>
        <p:spPr>
          <a:xfrm>
            <a:off x="330526" y="5073048"/>
            <a:ext cx="8687968" cy="630908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2069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55DFB3-E20E-4B8B-829D-146A72E9C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10E0D5-7416-4C32-9948-BD9B343E15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AE1D99A-5711-3E4A-A2A5-CFC48573C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22E95271-8907-4F40-95D1-E3920789E2AF}"/>
              </a:ext>
            </a:extLst>
          </p:cNvPr>
          <p:cNvSpPr txBox="1"/>
          <p:nvPr/>
        </p:nvSpPr>
        <p:spPr>
          <a:xfrm>
            <a:off x="4932294" y="3429000"/>
            <a:ext cx="5218871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Výsledkem bude normální tabulka, která sice má v sobě 2 klíče, ale není zde dosud definována žádná vazba na tabulku </a:t>
            </a:r>
            <a:r>
              <a:rPr lang="cs-CZ" dirty="0" err="1"/>
              <a:t>users</a:t>
            </a:r>
            <a:r>
              <a:rPr lang="cs-CZ" dirty="0"/>
              <a:t>.</a:t>
            </a:r>
          </a:p>
          <a:p>
            <a:endParaRPr lang="cs-CZ" dirty="0"/>
          </a:p>
          <a:p>
            <a:r>
              <a:rPr lang="cs-CZ" dirty="0"/>
              <a:t>Pro přepnutí se do nastavení vazeb klikněte na „Zobrazení relací“.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91C756CC-0CB9-4EC9-B150-08EAF498730F}"/>
              </a:ext>
            </a:extLst>
          </p:cNvPr>
          <p:cNvSpPr/>
          <p:nvPr/>
        </p:nvSpPr>
        <p:spPr>
          <a:xfrm>
            <a:off x="1868947" y="1344479"/>
            <a:ext cx="1537251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9018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3778E6-FF31-4214-91CD-7DD34312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100120-734B-4C1F-BD00-32814EAB6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65849B2F-B90E-06A3-2C9B-491E0615B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Obdélník 5">
            <a:extLst>
              <a:ext uri="{FF2B5EF4-FFF2-40B4-BE49-F238E27FC236}">
                <a16:creationId xmlns:a16="http://schemas.microsoft.com/office/drawing/2014/main" id="{233CB48B-C901-4C0C-9C57-2CD929948572}"/>
              </a:ext>
            </a:extLst>
          </p:cNvPr>
          <p:cNvSpPr/>
          <p:nvPr/>
        </p:nvSpPr>
        <p:spPr>
          <a:xfrm>
            <a:off x="742122" y="2872577"/>
            <a:ext cx="10971141" cy="80295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9EC340CF-583D-4443-9E25-EFCF580D015B}"/>
              </a:ext>
            </a:extLst>
          </p:cNvPr>
          <p:cNvSpPr txBox="1"/>
          <p:nvPr/>
        </p:nvSpPr>
        <p:spPr>
          <a:xfrm>
            <a:off x="6494392" y="5099286"/>
            <a:ext cx="521887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Na této stránce pak máme možnost naklikat nastavení cizích klíčů.</a:t>
            </a:r>
          </a:p>
        </p:txBody>
      </p:sp>
    </p:spTree>
    <p:extLst>
      <p:ext uri="{BB962C8B-B14F-4D97-AF65-F5344CB8AC3E}">
        <p14:creationId xmlns:p14="http://schemas.microsoft.com/office/powerpoint/2010/main" val="3663669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1D5512F8-AE9A-A8DC-7735-A545BBF80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E915774B-C374-443D-89EC-C0CA7AD6B5F1}"/>
              </a:ext>
            </a:extLst>
          </p:cNvPr>
          <p:cNvSpPr txBox="1"/>
          <p:nvPr/>
        </p:nvSpPr>
        <p:spPr>
          <a:xfrm>
            <a:off x="6424326" y="4101353"/>
            <a:ext cx="5218871" cy="2308324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POZOR</a:t>
            </a:r>
            <a:r>
              <a:rPr lang="en-US" dirty="0"/>
              <a:t>, </a:t>
            </a:r>
            <a:r>
              <a:rPr lang="en-US" dirty="0" err="1"/>
              <a:t>va</a:t>
            </a:r>
            <a:r>
              <a:rPr lang="cs-CZ" dirty="0" err="1"/>
              <a:t>zby</a:t>
            </a:r>
            <a:r>
              <a:rPr lang="cs-CZ" dirty="0"/>
              <a:t> definujeme v nastavení té tabulky, která si má půjčovat hodnoty odjinud.</a:t>
            </a:r>
          </a:p>
          <a:p>
            <a:endParaRPr lang="cs-CZ" dirty="0"/>
          </a:p>
          <a:p>
            <a:r>
              <a:rPr lang="cs-CZ" dirty="0"/>
              <a:t>Z hlediska nastavení chování:</a:t>
            </a:r>
          </a:p>
          <a:p>
            <a:pPr marL="285750" indent="-285750">
              <a:buFontTx/>
              <a:buChar char="-"/>
            </a:pPr>
            <a:r>
              <a:rPr lang="cs-CZ" dirty="0"/>
              <a:t>RESTRICT zakáže odstranění či změnu hodnoty ve využívané tabulce (tady zakáže smazání uživatele s alespoň 1 příspěvkem)</a:t>
            </a:r>
          </a:p>
          <a:p>
            <a:pPr marL="285750" indent="-285750">
              <a:buFontTx/>
              <a:buChar char="-"/>
            </a:pPr>
            <a:r>
              <a:rPr lang="cs-CZ" dirty="0"/>
              <a:t>CASCADE zařídí propagaci změny daného </a:t>
            </a:r>
            <a:r>
              <a:rPr lang="cs-CZ" dirty="0" err="1"/>
              <a:t>user_id</a:t>
            </a:r>
            <a:r>
              <a:rPr lang="cs-CZ" dirty="0"/>
              <a:t>.</a:t>
            </a:r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DF826328-F9D0-9045-A027-374651CD531A}"/>
              </a:ext>
            </a:extLst>
          </p:cNvPr>
          <p:cNvSpPr/>
          <p:nvPr/>
        </p:nvSpPr>
        <p:spPr>
          <a:xfrm>
            <a:off x="742122" y="2872577"/>
            <a:ext cx="10971141" cy="802951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430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D7781BD-592E-4B89-8102-5BD49B1C5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011EA2-0AD0-414B-884B-971E0FF0B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7610DA5-9E7D-0930-AAFA-958386420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D3AE7F1-97A6-4770-ADE5-EC4FB85DD060}"/>
              </a:ext>
            </a:extLst>
          </p:cNvPr>
          <p:cNvSpPr txBox="1"/>
          <p:nvPr/>
        </p:nvSpPr>
        <p:spPr>
          <a:xfrm>
            <a:off x="4150416" y="2223052"/>
            <a:ext cx="521887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opět si můžete prohlédnout SQL příkaz, který se spustil.</a:t>
            </a:r>
          </a:p>
        </p:txBody>
      </p:sp>
    </p:spTree>
    <p:extLst>
      <p:ext uri="{BB962C8B-B14F-4D97-AF65-F5344CB8AC3E}">
        <p14:creationId xmlns:p14="http://schemas.microsoft.com/office/powerpoint/2010/main" val="145354621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2A9596-F6BE-4E98-B1EC-DDA61DE6C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4648239-85B0-4C65-AFD1-6B89950F91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D08F8E4D-F1BF-4523-941F-1B2287B92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17362BE8-A896-449B-940F-D31235F6F4BE}"/>
              </a:ext>
            </a:extLst>
          </p:cNvPr>
          <p:cNvSpPr txBox="1"/>
          <p:nvPr/>
        </p:nvSpPr>
        <p:spPr>
          <a:xfrm>
            <a:off x="6552177" y="3583703"/>
            <a:ext cx="5218871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Při vkládání hodnot poté najdeme u </a:t>
            </a:r>
            <a:r>
              <a:rPr lang="cs-CZ" dirty="0" err="1"/>
              <a:t>user_id</a:t>
            </a:r>
            <a:r>
              <a:rPr lang="cs-CZ" dirty="0"/>
              <a:t> rozbalovací pole (</a:t>
            </a:r>
            <a:r>
              <a:rPr lang="cs-CZ" dirty="0" err="1"/>
              <a:t>select</a:t>
            </a:r>
            <a:r>
              <a:rPr lang="cs-CZ" dirty="0"/>
              <a:t>) s dostupnými hodnotami.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E952449D-3A53-4B67-983E-304BAE9F6B5A}"/>
              </a:ext>
            </a:extLst>
          </p:cNvPr>
          <p:cNvSpPr/>
          <p:nvPr/>
        </p:nvSpPr>
        <p:spPr>
          <a:xfrm>
            <a:off x="6772249" y="2378933"/>
            <a:ext cx="954157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3167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0209071-EB6C-4A17-A99A-574464DF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98813CC-18D6-4D1B-938C-3BA7353408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0494EBBA-9CAC-E7E6-F00B-9CEEE5E91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D2CA2268-E7FA-45E7-ABF7-A60229BFC20A}"/>
              </a:ext>
            </a:extLst>
          </p:cNvPr>
          <p:cNvSpPr/>
          <p:nvPr/>
        </p:nvSpPr>
        <p:spPr>
          <a:xfrm>
            <a:off x="5910859" y="947962"/>
            <a:ext cx="993913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EF072993-B767-4C37-A6A6-5131AE8CCA30}"/>
              </a:ext>
            </a:extLst>
          </p:cNvPr>
          <p:cNvSpPr txBox="1"/>
          <p:nvPr/>
        </p:nvSpPr>
        <p:spPr>
          <a:xfrm>
            <a:off x="5727424" y="2525868"/>
            <a:ext cx="5218871" cy="203132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 dokončení návrhu databáze ji doporučuji </a:t>
            </a:r>
            <a:r>
              <a:rPr lang="cs-CZ" dirty="0" err="1"/>
              <a:t>zazálohovat</a:t>
            </a:r>
            <a:r>
              <a:rPr lang="cs-CZ" dirty="0"/>
              <a:t> – na záložce „Export“ najdete možnost vygenerovat soubor s obsahem celé tabulky či databáze.</a:t>
            </a:r>
          </a:p>
          <a:p>
            <a:endParaRPr lang="cs-CZ" dirty="0"/>
          </a:p>
          <a:p>
            <a:r>
              <a:rPr lang="cs-CZ" dirty="0"/>
              <a:t>Při podrobném (vlastním) nastavení si budete moct vybrat jen konkrétní tabulky či jejich hodnoty.</a:t>
            </a:r>
          </a:p>
        </p:txBody>
      </p:sp>
    </p:spTree>
    <p:extLst>
      <p:ext uri="{BB962C8B-B14F-4D97-AF65-F5344CB8AC3E}">
        <p14:creationId xmlns:p14="http://schemas.microsoft.com/office/powerpoint/2010/main" val="350432208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FE222A-450E-40EB-9C0A-1698711BC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4410D62-51A9-4392-BE4F-74E943419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E222A5C8-7E66-AD54-D70C-0FBA7AF22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596A51B-96C2-4305-ACD4-9F1F542B21D2}"/>
              </a:ext>
            </a:extLst>
          </p:cNvPr>
          <p:cNvSpPr txBox="1"/>
          <p:nvPr/>
        </p:nvSpPr>
        <p:spPr>
          <a:xfrm>
            <a:off x="6766063" y="1875633"/>
            <a:ext cx="5006837" cy="64633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 zálohu máte, máte možnost ji nahrát zpět na záložce „Import“.</a:t>
            </a:r>
          </a:p>
        </p:txBody>
      </p:sp>
      <p:sp>
        <p:nvSpPr>
          <p:cNvPr id="6" name="Obdélník 5">
            <a:extLst>
              <a:ext uri="{FF2B5EF4-FFF2-40B4-BE49-F238E27FC236}">
                <a16:creationId xmlns:a16="http://schemas.microsoft.com/office/drawing/2014/main" id="{651F13DF-869B-41E7-8DDC-E0F8F1F91721}"/>
              </a:ext>
            </a:extLst>
          </p:cNvPr>
          <p:cNvSpPr/>
          <p:nvPr/>
        </p:nvSpPr>
        <p:spPr>
          <a:xfrm>
            <a:off x="6701312" y="983081"/>
            <a:ext cx="993913" cy="393252"/>
          </a:xfrm>
          <a:prstGeom prst="rect">
            <a:avLst/>
          </a:prstGeom>
          <a:noFill/>
          <a:ln w="571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690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80847C-A560-40C3-A7E7-57183A304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144A460-F8B7-4A97-B5C9-6D4D77184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8CBBBCDB-B5DC-7945-1554-2E2996E81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1176FCEE-DDD6-4B10-A767-CA273F23F363}"/>
              </a:ext>
            </a:extLst>
          </p:cNvPr>
          <p:cNvSpPr txBox="1"/>
          <p:nvPr/>
        </p:nvSpPr>
        <p:spPr>
          <a:xfrm>
            <a:off x="6228180" y="3429000"/>
            <a:ext cx="5006837" cy="92333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Případně je tu samozřejmě také možnost ručního vkládání SQL příkazů – obsah malého souboru s exportem můžete klidně nakopírovat rovnou sem.</a:t>
            </a:r>
          </a:p>
        </p:txBody>
      </p:sp>
    </p:spTree>
    <p:extLst>
      <p:ext uri="{BB962C8B-B14F-4D97-AF65-F5344CB8AC3E}">
        <p14:creationId xmlns:p14="http://schemas.microsoft.com/office/powerpoint/2010/main" val="36346357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2B8790-13C3-4FFB-B30D-4380DA94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A013ACF5-B90D-319C-0D87-B555693E9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B6005E3-219D-4233-AD56-3AB9308D5987}"/>
              </a:ext>
            </a:extLst>
          </p:cNvPr>
          <p:cNvSpPr txBox="1"/>
          <p:nvPr/>
        </p:nvSpPr>
        <p:spPr>
          <a:xfrm>
            <a:off x="6448011" y="3077964"/>
            <a:ext cx="5006837" cy="175432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Pokud už tabulky v databázi nechcete, máte možnost je odstranit na kartě „Struktura“.</a:t>
            </a:r>
          </a:p>
          <a:p>
            <a:endParaRPr lang="cs-CZ" dirty="0"/>
          </a:p>
          <a:p>
            <a:r>
              <a:rPr lang="cs-CZ" dirty="0"/>
              <a:t>Chcete-li smazat tabulky provázané cizími klíči, doporučuji vám vybrat je pomocí zatržítek všechny najednou.</a:t>
            </a:r>
          </a:p>
        </p:txBody>
      </p:sp>
    </p:spTree>
    <p:extLst>
      <p:ext uri="{BB962C8B-B14F-4D97-AF65-F5344CB8AC3E}">
        <p14:creationId xmlns:p14="http://schemas.microsoft.com/office/powerpoint/2010/main" val="29963883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0E941E-EA20-48E3-A96D-778E2703A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CA4475-89CC-4CB0-9C7F-34F618A9D6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E4E6A5C7-10E2-FB19-F71E-E1D972AE6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DA12115-EF97-47A2-AF17-C406D4E88980}"/>
              </a:ext>
            </a:extLst>
          </p:cNvPr>
          <p:cNvSpPr txBox="1"/>
          <p:nvPr/>
        </p:nvSpPr>
        <p:spPr>
          <a:xfrm>
            <a:off x="6448011" y="3077964"/>
            <a:ext cx="5006837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Potvrdíme připravený SQL příkaz…</a:t>
            </a:r>
          </a:p>
        </p:txBody>
      </p:sp>
    </p:spTree>
    <p:extLst>
      <p:ext uri="{BB962C8B-B14F-4D97-AF65-F5344CB8AC3E}">
        <p14:creationId xmlns:p14="http://schemas.microsoft.com/office/powerpoint/2010/main" val="31484683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ECB91F0-7A79-4771-BD4B-BEAAD7F0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5EDA9E6-91AF-4BF6-9435-FC2E685A6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540D34A2-2FD2-0E38-F9BE-91A56461D2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04" y="0"/>
            <a:ext cx="11673191" cy="6858000"/>
          </a:xfrm>
          <a:prstGeom prst="rect">
            <a:avLst/>
          </a:prstGeom>
        </p:spPr>
      </p:pic>
      <p:sp>
        <p:nvSpPr>
          <p:cNvPr id="5" name="TextovéPole 4">
            <a:extLst>
              <a:ext uri="{FF2B5EF4-FFF2-40B4-BE49-F238E27FC236}">
                <a16:creationId xmlns:a16="http://schemas.microsoft.com/office/drawing/2014/main" id="{312331E6-B88D-4E86-A1EE-0C747F460F6D}"/>
              </a:ext>
            </a:extLst>
          </p:cNvPr>
          <p:cNvSpPr txBox="1"/>
          <p:nvPr/>
        </p:nvSpPr>
        <p:spPr>
          <a:xfrm>
            <a:off x="6686551" y="3816628"/>
            <a:ext cx="3265832" cy="36933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cs-CZ" dirty="0"/>
              <a:t>A máme opět prázdnou databázi.</a:t>
            </a:r>
          </a:p>
        </p:txBody>
      </p:sp>
    </p:spTree>
    <p:extLst>
      <p:ext uri="{BB962C8B-B14F-4D97-AF65-F5344CB8AC3E}">
        <p14:creationId xmlns:p14="http://schemas.microsoft.com/office/powerpoint/2010/main" val="2807530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954</Words>
  <Application>Microsoft Office PowerPoint</Application>
  <PresentationFormat>Širokoúhlá obrazovka</PresentationFormat>
  <Paragraphs>86</Paragraphs>
  <Slides>40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40</vt:i4>
      </vt:variant>
    </vt:vector>
  </HeadingPairs>
  <TitlesOfParts>
    <vt:vector size="44" baseType="lpstr">
      <vt:lpstr>Arial</vt:lpstr>
      <vt:lpstr>Calibri</vt:lpstr>
      <vt:lpstr>Calibri Light</vt:lpstr>
      <vt:lpstr>Motiv Office</vt:lpstr>
      <vt:lpstr>Ukázka použití nástroje phpMyAdmin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Ukázka použití nástroje phpMyAdmin</dc:title>
  <dc:creator>Stanislav Vojíř</dc:creator>
  <cp:lastModifiedBy>Stanislav Vojíř</cp:lastModifiedBy>
  <cp:revision>13</cp:revision>
  <dcterms:created xsi:type="dcterms:W3CDTF">2020-03-21T00:19:25Z</dcterms:created>
  <dcterms:modified xsi:type="dcterms:W3CDTF">2026-03-22T22:46:21Z</dcterms:modified>
</cp:coreProperties>
</file>