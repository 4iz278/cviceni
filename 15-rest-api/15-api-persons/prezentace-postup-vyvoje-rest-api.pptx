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0" r:id="rId25"/>
    <p:sldId id="281" r:id="rId26"/>
    <p:sldId id="282" r:id="rId27"/>
    <p:sldId id="285" r:id="rId28"/>
    <p:sldId id="288" r:id="rId29"/>
    <p:sldId id="287" r:id="rId30"/>
    <p:sldId id="284" r:id="rId3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8ED97D-95B3-4FFE-B3EA-DCDE31D409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7A4A37B-1DB3-4CAB-934C-47942BE426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D34FAB4-48A2-4424-AFFE-EF7ACEEAA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128AF-CF59-4902-93BD-282B2D39C19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54F91EC-8C78-4C3F-8D05-45A6A7B25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09CEE4-6612-4A92-95A9-A63030F0B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07229-CDAC-4EC4-8DDC-97219B163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16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99C58AD-6118-4CDC-B9C3-0AEBCFE24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45BC55B-C0D5-40D7-B3CA-319A10118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C9E15FA-255C-4A07-95F2-4945B56C7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128AF-CF59-4902-93BD-282B2D39C19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ABF13E6-B982-42FD-B716-676A2273E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000315A-4528-4AAF-BD95-946214513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07229-CDAC-4EC4-8DDC-97219B163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485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1518FE-6F11-471E-84DA-79C9E1D42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A14A810-C27F-4772-A78E-F5CF525B7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C9E8A47-B692-494F-B907-5D48B6DAB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128AF-CF59-4902-93BD-282B2D39C19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5DACE4A-AF73-401C-B788-BFDE87F32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696AC62-1DC8-422D-B031-925817DB1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07229-CDAC-4EC4-8DDC-97219B163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497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DCA5C7-DF1D-4AD3-AF9B-1E0311527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63FA376-CC7E-4304-B783-1E9638712E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CB48B22-AD33-42CC-9BF8-843CDB37FD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E5CCCA5-A88A-491F-87DB-75A8488E0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128AF-CF59-4902-93BD-282B2D39C19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92BD9D3-6435-4F22-9A1F-89E5449B1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6F7A4C4-F8C4-4ECB-B7BD-1ECC228E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07229-CDAC-4EC4-8DDC-97219B163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427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3760738-774C-4EB8-ADD3-FDB6ED213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43479FD-2828-4E32-8F20-F778ED880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432C9CE-0BBD-4459-A6DC-F9A17B24B2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AC7E473C-BBD2-4DB4-AEE4-5A0EA8ED2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59306F6E-60D7-4FEA-875B-BAC3933CED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853CD272-455D-4688-A129-6A787FB8C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128AF-CF59-4902-93BD-282B2D39C19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EAAA0CA5-B2E3-4B3F-B24A-176039A20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B4384566-4241-4495-AAEC-33AA3E84A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07229-CDAC-4EC4-8DDC-97219B163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190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F5DC5F-98CC-4131-A263-461B17A4B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022EAA49-5272-4EB1-9824-39D18612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128AF-CF59-4902-93BD-282B2D39C19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8C8775AF-114E-4540-83F3-E7A5D1E8B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2617D0A-2A8E-4E58-BE61-57362D340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07229-CDAC-4EC4-8DDC-97219B163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785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B790F40D-D343-4426-9C2D-CC78EFBDF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128AF-CF59-4902-93BD-282B2D39C19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E98FB28D-35B3-4523-9129-69B47F1E3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FC9C91C-A4F2-46D4-A2C1-932778C22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07229-CDAC-4EC4-8DDC-97219B163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153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42916BC-EF45-4290-9DC7-D6F579BF6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BBAD5B6-F649-4870-80CA-234248C43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E8F5757-5852-4954-8FBE-3556515F24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808C267-C8AE-4CBD-B12C-12EE16EBF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128AF-CF59-4902-93BD-282B2D39C19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4C0B430-62EA-443F-985C-1D52E4537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53D87FF-5173-440D-A10A-AB158BC4F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07229-CDAC-4EC4-8DDC-97219B163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037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E0D9057-6917-499C-BC82-DA27821AB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B5A041B2-6BD8-4F56-9D93-C1B4C0FA21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ADD01D6-8A32-42ED-9DDC-CBF3EE13F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0221286-E1F6-4859-B153-99DE5A543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128AF-CF59-4902-93BD-282B2D39C19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EBADE33-ED04-4AFE-AD23-E8BA7AFF6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93420AF-12ED-47AA-A610-ECFDA1516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07229-CDAC-4EC4-8DDC-97219B163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9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1820381-62BD-44BA-BDFB-41FF85310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82FCABB-F3CA-4C59-9A6B-F7668651AF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1A4DCDA-2F20-4F0C-8042-E3837DD53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128AF-CF59-4902-93BD-282B2D39C19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8E595B0-6122-4A9F-9D58-8E875E032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535AAD6-1D4F-4377-8192-9E77A88CA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07229-CDAC-4EC4-8DDC-97219B163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72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E292D50A-F559-4623-915A-A50AB6FD6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8A8098F5-B706-48DD-8942-ABD50AF786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47FDDE3-41AE-4776-953D-EC496B43D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128AF-CF59-4902-93BD-282B2D39C19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9B2F496-26D7-403B-AE87-4C293F831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C4DBF89-4EC4-4F66-ABC8-34F6E5B0F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07229-CDAC-4EC4-8DDC-97219B163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737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BD88A537-3E01-45AD-B041-9022F464D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1991B9A-5226-4E9B-9520-CC9A8412F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42DFEDD-B57F-4844-84BD-E21B6D91E9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3128AF-CF59-4902-93BD-282B2D39C19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E7978D4-BB22-4036-A2D8-112F9881CC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BBF2C28-6D4C-4370-81A4-BDE989806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07229-CDAC-4EC4-8DDC-97219B163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406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F7140C2-342F-4538-9287-BE592D18EE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Ukázka tvorby REST API</a:t>
            </a:r>
            <a:endParaRPr lang="en-US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3471A74-DB11-4DE4-A9A9-D8E3F2C5CB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Jednoduchý adresář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292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36850C-2689-4A0E-B546-D336B73B3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86152A74-F203-54B9-CD6F-46454933B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35817580-D1A8-4D07-9FF3-A3F0A10B8FBA}"/>
              </a:ext>
            </a:extLst>
          </p:cNvPr>
          <p:cNvSpPr txBox="1"/>
          <p:nvPr/>
        </p:nvSpPr>
        <p:spPr>
          <a:xfrm>
            <a:off x="6745382" y="3429000"/>
            <a:ext cx="5027518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V rámci tohoto příkladu budeme vytvářet aplikaci, která bude svá data ukládat do databáze.</a:t>
            </a:r>
          </a:p>
          <a:p>
            <a:endParaRPr lang="cs-CZ" dirty="0"/>
          </a:p>
          <a:p>
            <a:r>
              <a:rPr lang="cs-CZ" dirty="0"/>
              <a:t>Začneme tedy tím, že se přihlásíme do </a:t>
            </a:r>
            <a:r>
              <a:rPr lang="cs-CZ" dirty="0" err="1"/>
              <a:t>phpMyAdminu</a:t>
            </a:r>
            <a:r>
              <a:rPr lang="cs-CZ" dirty="0"/>
              <a:t> a nadefinujeme potřebnou tabulku.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51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3B7D73-4E53-4E0C-8141-70F4DCCC7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C76A200-2602-4F58-9861-D70A16052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277B0866-F1CB-8A4D-ADA9-C6F9505A2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580D553D-EA65-4FBE-9DCC-669B35AFCCB3}"/>
              </a:ext>
            </a:extLst>
          </p:cNvPr>
          <p:cNvSpPr txBox="1"/>
          <p:nvPr/>
        </p:nvSpPr>
        <p:spPr>
          <a:xfrm>
            <a:off x="6941670" y="80872"/>
            <a:ext cx="4800624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Konkrétně půjde o tabulku „</a:t>
            </a:r>
            <a:r>
              <a:rPr lang="cs-CZ" dirty="0" err="1"/>
              <a:t>persons</a:t>
            </a:r>
            <a:r>
              <a:rPr lang="cs-CZ" dirty="0"/>
              <a:t>“, ve které budou pro každou osobu jméno, e-mail a telefon.</a:t>
            </a:r>
          </a:p>
          <a:p>
            <a:endParaRPr lang="cs-CZ" dirty="0"/>
          </a:p>
          <a:p>
            <a:r>
              <a:rPr lang="cs-CZ" dirty="0"/>
              <a:t>ID osoby necháme generovat </a:t>
            </a:r>
            <a:r>
              <a:rPr lang="cs-CZ" dirty="0" err="1"/>
              <a:t>autoincrementem</a:t>
            </a:r>
            <a:r>
              <a:rPr lang="cs-CZ" dirty="0"/>
              <a:t>.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7CC2F2D9-FA7F-426A-9141-1CC8C1A91039}"/>
              </a:ext>
            </a:extLst>
          </p:cNvPr>
          <p:cNvSpPr/>
          <p:nvPr/>
        </p:nvSpPr>
        <p:spPr>
          <a:xfrm>
            <a:off x="327814" y="1376811"/>
            <a:ext cx="11514562" cy="501502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951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1B8503B-871A-4C64-9E7C-970246E74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B9C3E13-8D82-45FA-B58B-F2F5D25CF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17364071-401D-59DE-212E-D1079CF49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B087BED0-010C-4446-BCA2-785756B55FF6}"/>
              </a:ext>
            </a:extLst>
          </p:cNvPr>
          <p:cNvSpPr/>
          <p:nvPr/>
        </p:nvSpPr>
        <p:spPr>
          <a:xfrm>
            <a:off x="328618" y="3441737"/>
            <a:ext cx="5471547" cy="559557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F7CD67D2-E261-4421-BF9E-62502B5203A0}"/>
              </a:ext>
            </a:extLst>
          </p:cNvPr>
          <p:cNvSpPr txBox="1"/>
          <p:nvPr/>
        </p:nvSpPr>
        <p:spPr>
          <a:xfrm>
            <a:off x="6948961" y="2134619"/>
            <a:ext cx="4404839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Následně si do tabulky doplníme alespoň 1 testovací záznam. Další už budeme doplňovat v rámci aplikace.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063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C2E23C6-D109-488B-845D-CFC1DAC5A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6D63CD3-9399-41A7-AB08-90B38E42A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3ACC605A-8F96-1AA6-8583-B0CE9B61F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DE246B9D-75D6-4319-B9B6-E37D055A0AB9}"/>
              </a:ext>
            </a:extLst>
          </p:cNvPr>
          <p:cNvSpPr txBox="1"/>
          <p:nvPr/>
        </p:nvSpPr>
        <p:spPr>
          <a:xfrm>
            <a:off x="7518186" y="843677"/>
            <a:ext cx="4309306" cy="258532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Spustíme si editor a vytvoříme v něm prázdný projekt.</a:t>
            </a:r>
          </a:p>
          <a:p>
            <a:endParaRPr lang="cs-CZ" dirty="0"/>
          </a:p>
          <a:p>
            <a:r>
              <a:rPr lang="cs-CZ" dirty="0"/>
              <a:t>V případě </a:t>
            </a:r>
            <a:r>
              <a:rPr lang="cs-CZ" dirty="0" err="1"/>
              <a:t>PhpStormu</a:t>
            </a:r>
            <a:r>
              <a:rPr lang="cs-CZ" dirty="0"/>
              <a:t> a podobných IDE doporučuji rovnou nastavit také </a:t>
            </a:r>
            <a:r>
              <a:rPr lang="cs-CZ" dirty="0" err="1"/>
              <a:t>deployment</a:t>
            </a:r>
            <a:r>
              <a:rPr lang="cs-CZ" dirty="0"/>
              <a:t> kódu na server eso.vse.cz, ale to už jsme si přeci ukazovali v předchozích prezentacích… Takže tentokrát se posuneme rovnou k začátku psaní kódu.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861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E33C4EE-C4FF-4CB8-BD13-39487962B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4D5A869-BF82-49E9-9C78-102D1A83E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590EE72A-05B1-1862-C1AE-FCBCC230B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87A1699D-2F29-4EAC-9F19-550E4BD6FFBB}"/>
              </a:ext>
            </a:extLst>
          </p:cNvPr>
          <p:cNvSpPr txBox="1"/>
          <p:nvPr/>
        </p:nvSpPr>
        <p:spPr>
          <a:xfrm>
            <a:off x="6864652" y="2531086"/>
            <a:ext cx="5027518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Jako první si do projektu doplníme soubor </a:t>
            </a:r>
            <a:r>
              <a:rPr lang="cs-CZ" dirty="0" err="1"/>
              <a:t>inc</a:t>
            </a:r>
            <a:r>
              <a:rPr lang="cs-CZ" dirty="0"/>
              <a:t>/</a:t>
            </a:r>
            <a:r>
              <a:rPr lang="cs-CZ" dirty="0" err="1"/>
              <a:t>db.php</a:t>
            </a:r>
            <a:r>
              <a:rPr lang="cs-CZ" dirty="0"/>
              <a:t>, ve kterém bude definice připojení k databázi.</a:t>
            </a:r>
            <a:endParaRPr lang="en-US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D12B93C5-08FD-4FB2-8427-FC46BF2DD9CA}"/>
              </a:ext>
            </a:extLst>
          </p:cNvPr>
          <p:cNvSpPr/>
          <p:nvPr/>
        </p:nvSpPr>
        <p:spPr>
          <a:xfrm>
            <a:off x="3874469" y="701028"/>
            <a:ext cx="7748516" cy="1477328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92561C20-5CBB-1B1A-6137-EB7651E0C1D2}"/>
              </a:ext>
            </a:extLst>
          </p:cNvPr>
          <p:cNvSpPr/>
          <p:nvPr/>
        </p:nvSpPr>
        <p:spPr>
          <a:xfrm>
            <a:off x="1008530" y="1027906"/>
            <a:ext cx="981635" cy="460235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825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C80AA1F-618B-4B97-AA9C-9CD0D06C5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7641686-B05B-494D-8E48-8C4D6EB9E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326A2D5C-3BD4-F873-87F4-99BFCF2B1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3088385A-2BF5-4FCD-A1A9-AF170DCE5B21}"/>
              </a:ext>
            </a:extLst>
          </p:cNvPr>
          <p:cNvSpPr/>
          <p:nvPr/>
        </p:nvSpPr>
        <p:spPr>
          <a:xfrm>
            <a:off x="838201" y="1439280"/>
            <a:ext cx="1519518" cy="506062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F4B0A3E7-6057-469A-A11A-F0D11BB6FBA9}"/>
              </a:ext>
            </a:extLst>
          </p:cNvPr>
          <p:cNvSpPr txBox="1"/>
          <p:nvPr/>
        </p:nvSpPr>
        <p:spPr>
          <a:xfrm>
            <a:off x="6864652" y="2531086"/>
            <a:ext cx="5027518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Následně si vytvoříme adresář „person“ a v něm soubor „</a:t>
            </a:r>
            <a:r>
              <a:rPr lang="cs-CZ" dirty="0" err="1"/>
              <a:t>index.php</a:t>
            </a:r>
            <a:r>
              <a:rPr lang="cs-CZ" dirty="0"/>
              <a:t>“. Půjde o součást našeho API </a:t>
            </a:r>
            <a:r>
              <a:rPr lang="cs-CZ" dirty="0" err="1"/>
              <a:t>endpointu</a:t>
            </a:r>
            <a:r>
              <a:rPr lang="cs-CZ" dirty="0"/>
              <a:t>, která zpřístupní všechny metody pro práci s osobami.</a:t>
            </a:r>
          </a:p>
          <a:p>
            <a:endParaRPr lang="cs-CZ" dirty="0"/>
          </a:p>
          <a:p>
            <a:r>
              <a:rPr lang="cs-CZ" dirty="0"/>
              <a:t>Jistě by to šlo i bez vytváření podadresáře „person“, ale potřebovali bychom k tomu </a:t>
            </a:r>
            <a:r>
              <a:rPr lang="cs-CZ" dirty="0" err="1"/>
              <a:t>mod</a:t>
            </a:r>
            <a:r>
              <a:rPr lang="cs-CZ" dirty="0"/>
              <a:t> </a:t>
            </a:r>
            <a:r>
              <a:rPr lang="cs-CZ" dirty="0" err="1"/>
              <a:t>rewrite</a:t>
            </a:r>
            <a:r>
              <a:rPr lang="cs-CZ" dirty="0"/>
              <a:t>, který si ukážeme až  v dalších podkladech.</a:t>
            </a:r>
            <a:endParaRPr lang="en-US" dirty="0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09AD1104-1824-8F3F-ADAF-D5FA1745F66B}"/>
              </a:ext>
            </a:extLst>
          </p:cNvPr>
          <p:cNvSpPr/>
          <p:nvPr/>
        </p:nvSpPr>
        <p:spPr>
          <a:xfrm>
            <a:off x="3939989" y="774874"/>
            <a:ext cx="2442881" cy="1325563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335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C728105-5789-41CF-999F-045F0CF56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228A763-1FB0-45B6-AECC-6849D7465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B84F8DE7-65A5-F3D2-CE9F-14360C914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E68E0A70-2276-4F55-BD30-A1456B3AC482}"/>
              </a:ext>
            </a:extLst>
          </p:cNvPr>
          <p:cNvSpPr txBox="1"/>
          <p:nvPr/>
        </p:nvSpPr>
        <p:spPr>
          <a:xfrm>
            <a:off x="6972313" y="1529494"/>
            <a:ext cx="4489148" cy="313932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Pro určení typu požadavku  se u </a:t>
            </a:r>
            <a:r>
              <a:rPr lang="cs-CZ" dirty="0" err="1"/>
              <a:t>RESTful</a:t>
            </a:r>
            <a:r>
              <a:rPr lang="cs-CZ" dirty="0"/>
              <a:t> API používá HTTP metoda, kterou byl požadavek poslán na server.</a:t>
            </a:r>
          </a:p>
          <a:p>
            <a:endParaRPr lang="cs-CZ" dirty="0"/>
          </a:p>
          <a:p>
            <a:r>
              <a:rPr lang="cs-CZ" dirty="0"/>
              <a:t>GET slouží pro čtení dat</a:t>
            </a:r>
          </a:p>
          <a:p>
            <a:r>
              <a:rPr lang="cs-CZ" dirty="0"/>
              <a:t>POST slouží pro vytváření nových záznamů</a:t>
            </a:r>
          </a:p>
          <a:p>
            <a:r>
              <a:rPr lang="cs-CZ" dirty="0"/>
              <a:t>PUT slouží pro aktualizaci existujících záznamů</a:t>
            </a:r>
          </a:p>
          <a:p>
            <a:r>
              <a:rPr lang="cs-CZ" dirty="0"/>
              <a:t>DELETE slouží pro mazání existujících záznamů</a:t>
            </a:r>
          </a:p>
          <a:p>
            <a:endParaRPr lang="cs-CZ" dirty="0"/>
          </a:p>
          <a:p>
            <a:r>
              <a:rPr lang="cs-CZ" dirty="0"/>
              <a:t>HTTP metod ale existuje víc. Pokud tedy byla použita jiná metoda, vyhodíme chybu.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9A46EB1B-D55F-482E-8892-382F2D229284}"/>
              </a:ext>
            </a:extLst>
          </p:cNvPr>
          <p:cNvSpPr/>
          <p:nvPr/>
        </p:nvSpPr>
        <p:spPr>
          <a:xfrm>
            <a:off x="3713379" y="1246094"/>
            <a:ext cx="3054974" cy="3339158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53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B6D91AC-976B-47D9-8E50-E19FEC6EB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6560B5-D8BA-4AAD-9E31-2F863674E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B911D9E4-8277-9A79-CBBD-85EB4C995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17C4A400-7385-42E5-928F-1CFB6B7C3948}"/>
              </a:ext>
            </a:extLst>
          </p:cNvPr>
          <p:cNvSpPr/>
          <p:nvPr/>
        </p:nvSpPr>
        <p:spPr>
          <a:xfrm>
            <a:off x="3816278" y="1312346"/>
            <a:ext cx="3297021" cy="486383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278F5CDA-B987-4389-87CD-6E911567C444}"/>
              </a:ext>
            </a:extLst>
          </p:cNvPr>
          <p:cNvSpPr txBox="1"/>
          <p:nvPr/>
        </p:nvSpPr>
        <p:spPr>
          <a:xfrm>
            <a:off x="7293135" y="1502459"/>
            <a:ext cx="3457148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Následně do dokumentu načteme soubor s připojením k databázi.</a:t>
            </a:r>
          </a:p>
        </p:txBody>
      </p:sp>
    </p:spTree>
    <p:extLst>
      <p:ext uri="{BB962C8B-B14F-4D97-AF65-F5344CB8AC3E}">
        <p14:creationId xmlns:p14="http://schemas.microsoft.com/office/powerpoint/2010/main" val="2393810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75275F0-8AF5-4E01-BCB1-4FFB87064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25D69C9-1EE1-4832-9E77-73F28DDEC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5" name="Obrázek 14">
            <a:extLst>
              <a:ext uri="{FF2B5EF4-FFF2-40B4-BE49-F238E27FC236}">
                <a16:creationId xmlns:a16="http://schemas.microsoft.com/office/drawing/2014/main" id="{D1867DD5-B26A-A928-6BF0-C347C14CB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BF400592-BD3F-4EF1-8B46-1B72EA0DD1E6}"/>
              </a:ext>
            </a:extLst>
          </p:cNvPr>
          <p:cNvSpPr/>
          <p:nvPr/>
        </p:nvSpPr>
        <p:spPr>
          <a:xfrm>
            <a:off x="3808092" y="681036"/>
            <a:ext cx="4842849" cy="1847011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0141AA82-F4E7-40BB-9003-AC2F0C1D8441}"/>
              </a:ext>
            </a:extLst>
          </p:cNvPr>
          <p:cNvSpPr txBox="1"/>
          <p:nvPr/>
        </p:nvSpPr>
        <p:spPr>
          <a:xfrm>
            <a:off x="7228726" y="3449578"/>
            <a:ext cx="4633822" cy="286232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Kromě souboru </a:t>
            </a:r>
            <a:r>
              <a:rPr lang="cs-CZ" dirty="0" err="1"/>
              <a:t>db.php</a:t>
            </a:r>
            <a:r>
              <a:rPr lang="cs-CZ" dirty="0"/>
              <a:t> si ještě vytvoříme jeden pomocný soubor, který budeme načítat do dalších skriptů. Konkrétně půjde o soubor </a:t>
            </a:r>
            <a:r>
              <a:rPr lang="cs-CZ" dirty="0" err="1"/>
              <a:t>functions.php</a:t>
            </a:r>
            <a:r>
              <a:rPr lang="cs-CZ" dirty="0"/>
              <a:t>.</a:t>
            </a:r>
          </a:p>
          <a:p>
            <a:endParaRPr lang="cs-CZ" dirty="0"/>
          </a:p>
          <a:p>
            <a:r>
              <a:rPr lang="cs-CZ" dirty="0"/>
              <a:t>Naše API bude odpovídat daty ve formátu JSON. Jako první si definujeme funkci </a:t>
            </a:r>
            <a:r>
              <a:rPr lang="cs-CZ" dirty="0" err="1"/>
              <a:t>send_json_response</a:t>
            </a:r>
            <a:r>
              <a:rPr lang="en-US" dirty="0"/>
              <a:t>()</a:t>
            </a:r>
            <a:r>
              <a:rPr lang="cs-CZ" dirty="0"/>
              <a:t>, </a:t>
            </a:r>
            <a:r>
              <a:rPr lang="en-US" dirty="0" err="1"/>
              <a:t>pomoc</a:t>
            </a:r>
            <a:r>
              <a:rPr lang="cs-CZ" dirty="0"/>
              <a:t>í které si zjednodušíme korektní odeslání takového odpovědi.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DEA4E8E8-68BE-4819-B7D3-31F6A44338F4}"/>
              </a:ext>
            </a:extLst>
          </p:cNvPr>
          <p:cNvSpPr/>
          <p:nvPr/>
        </p:nvSpPr>
        <p:spPr>
          <a:xfrm>
            <a:off x="1188999" y="1399322"/>
            <a:ext cx="1134147" cy="239223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421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3A001F-4610-4FB8-8F2E-5C71B8F33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BFF79E1-D322-4ABC-A269-604081D8F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E4C91430-05D5-89AB-68BA-26AFAC392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69920CC2-A349-4A43-BA2C-685EC4646FFA}"/>
              </a:ext>
            </a:extLst>
          </p:cNvPr>
          <p:cNvSpPr/>
          <p:nvPr/>
        </p:nvSpPr>
        <p:spPr>
          <a:xfrm>
            <a:off x="1075764" y="1144588"/>
            <a:ext cx="8081487" cy="2530941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A00E285E-7CC3-46E2-BB3A-3C5B8DA4FE3A}"/>
              </a:ext>
            </a:extLst>
          </p:cNvPr>
          <p:cNvSpPr txBox="1"/>
          <p:nvPr/>
        </p:nvSpPr>
        <p:spPr>
          <a:xfrm>
            <a:off x="3842057" y="3995531"/>
            <a:ext cx="7930843" cy="2031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Pro odeslání dat nejprve ověříme, jestli už nebyl předán JSON řetězec a data zakódujeme funkcí </a:t>
            </a:r>
            <a:r>
              <a:rPr lang="cs-CZ" dirty="0" err="1"/>
              <a:t>json_encode</a:t>
            </a:r>
            <a:r>
              <a:rPr lang="en-US" dirty="0"/>
              <a:t>().</a:t>
            </a:r>
          </a:p>
          <a:p>
            <a:endParaRPr lang="en-US" dirty="0"/>
          </a:p>
          <a:p>
            <a:r>
              <a:rPr lang="en-US" dirty="0"/>
              <a:t>N</a:t>
            </a:r>
            <a:r>
              <a:rPr lang="cs-CZ" dirty="0" err="1"/>
              <a:t>ásledně</a:t>
            </a:r>
            <a:r>
              <a:rPr lang="cs-CZ" dirty="0"/>
              <a:t> data odešleme na výstup. </a:t>
            </a:r>
          </a:p>
          <a:p>
            <a:r>
              <a:rPr lang="cs-CZ" dirty="0"/>
              <a:t>Funkce </a:t>
            </a:r>
            <a:r>
              <a:rPr lang="cs-CZ" dirty="0" err="1"/>
              <a:t>http_response_code</a:t>
            </a:r>
            <a:r>
              <a:rPr lang="en-US" dirty="0"/>
              <a:t>()</a:t>
            </a:r>
            <a:r>
              <a:rPr lang="cs-CZ" dirty="0"/>
              <a:t> nám umožňuje korektně odeslat </a:t>
            </a:r>
            <a:r>
              <a:rPr lang="en-US" dirty="0" err="1"/>
              <a:t>stavov</a:t>
            </a:r>
            <a:r>
              <a:rPr lang="cs-CZ" dirty="0"/>
              <a:t>ý kód HTTP.</a:t>
            </a:r>
          </a:p>
          <a:p>
            <a:r>
              <a:rPr lang="cs-CZ" dirty="0"/>
              <a:t>Pro správnou detekci </a:t>
            </a:r>
            <a:r>
              <a:rPr lang="cs-CZ" dirty="0" err="1"/>
              <a:t>JSONu</a:t>
            </a:r>
            <a:r>
              <a:rPr lang="cs-CZ" dirty="0"/>
              <a:t> na klientovi odešleme hlavičku </a:t>
            </a:r>
            <a:r>
              <a:rPr lang="cs-CZ" dirty="0" err="1"/>
              <a:t>Content</a:t>
            </a:r>
            <a:r>
              <a:rPr lang="cs-CZ" dirty="0"/>
              <a:t>-Type a poté samotná data.</a:t>
            </a:r>
          </a:p>
        </p:txBody>
      </p:sp>
    </p:spTree>
    <p:extLst>
      <p:ext uri="{BB962C8B-B14F-4D97-AF65-F5344CB8AC3E}">
        <p14:creationId xmlns:p14="http://schemas.microsoft.com/office/powerpoint/2010/main" val="703345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A1E8F1-E86C-4FC8-A774-DA3B5D96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28B7199-EA46-4ADC-A2A9-46D391070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C94239A5-359E-B50F-0219-B418E50E9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2738222D-C7FB-43A9-83E1-E96AD3292546}"/>
              </a:ext>
            </a:extLst>
          </p:cNvPr>
          <p:cNvSpPr/>
          <p:nvPr/>
        </p:nvSpPr>
        <p:spPr>
          <a:xfrm>
            <a:off x="1057834" y="3878659"/>
            <a:ext cx="5136777" cy="1989877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399D2129-B0F9-47B1-B1FF-DB67DEC16223}"/>
              </a:ext>
            </a:extLst>
          </p:cNvPr>
          <p:cNvSpPr txBox="1"/>
          <p:nvPr/>
        </p:nvSpPr>
        <p:spPr>
          <a:xfrm>
            <a:off x="6353662" y="738545"/>
            <a:ext cx="4633822" cy="258532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Jako další pomocnou funkci si definujeme </a:t>
            </a:r>
            <a:r>
              <a:rPr lang="cs-CZ" dirty="0" err="1"/>
              <a:t>send_error_response</a:t>
            </a:r>
            <a:r>
              <a:rPr lang="cs-CZ" dirty="0"/>
              <a:t>. Tato funkce rozšiřuje výše definovanou funkci pro JSON odpověď s tím, že chceme, aby informace o chybě byly odeslány ze všech míst aplikace v jednotné podobě.</a:t>
            </a:r>
          </a:p>
          <a:p>
            <a:endParaRPr lang="cs-CZ" dirty="0"/>
          </a:p>
          <a:p>
            <a:r>
              <a:rPr lang="cs-CZ" dirty="0"/>
              <a:t>Pro API je vhodné, aby i chyby byly zasílány v dekódovatelné podobě.</a:t>
            </a:r>
          </a:p>
        </p:txBody>
      </p:sp>
    </p:spTree>
    <p:extLst>
      <p:ext uri="{BB962C8B-B14F-4D97-AF65-F5344CB8AC3E}">
        <p14:creationId xmlns:p14="http://schemas.microsoft.com/office/powerpoint/2010/main" val="2366652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36BC6EE-96AD-41FB-B74F-9BBE2F02F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B3C171-DF1F-4115-BE51-E9E947A01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Obrázek 11">
            <a:extLst>
              <a:ext uri="{FF2B5EF4-FFF2-40B4-BE49-F238E27FC236}">
                <a16:creationId xmlns:a16="http://schemas.microsoft.com/office/drawing/2014/main" id="{64ECB363-645A-0AB4-3F9D-060B879FC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769E50E3-76EC-4F4D-96EA-E636A93FE035}"/>
              </a:ext>
            </a:extLst>
          </p:cNvPr>
          <p:cNvSpPr/>
          <p:nvPr/>
        </p:nvSpPr>
        <p:spPr>
          <a:xfrm>
            <a:off x="3870676" y="1308847"/>
            <a:ext cx="6008430" cy="1927412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6E05E2C2-D97B-4F10-83EC-27F69F6D1E88}"/>
              </a:ext>
            </a:extLst>
          </p:cNvPr>
          <p:cNvSpPr txBox="1"/>
          <p:nvPr/>
        </p:nvSpPr>
        <p:spPr>
          <a:xfrm>
            <a:off x="7895196" y="3759958"/>
            <a:ext cx="3458604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Soubor s funkcemi načteme do našeho skriptu pro práci s osobami, přičemž zároveň doplníme zachycení případné výjimky při připojení k databázi.</a:t>
            </a:r>
          </a:p>
          <a:p>
            <a:endParaRPr lang="cs-CZ" dirty="0"/>
          </a:p>
          <a:p>
            <a:r>
              <a:rPr lang="cs-CZ" dirty="0"/>
              <a:t>Všimněte si způsobu odeslání chyby.</a:t>
            </a:r>
          </a:p>
        </p:txBody>
      </p:sp>
    </p:spTree>
    <p:extLst>
      <p:ext uri="{BB962C8B-B14F-4D97-AF65-F5344CB8AC3E}">
        <p14:creationId xmlns:p14="http://schemas.microsoft.com/office/powerpoint/2010/main" val="2373017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0436BB-6C85-4128-A758-413585D34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57F00B20-4626-C5DC-C1AA-8C01CC8E3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8965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525482B1-46DC-484F-A656-F5A347463998}"/>
              </a:ext>
            </a:extLst>
          </p:cNvPr>
          <p:cNvSpPr/>
          <p:nvPr/>
        </p:nvSpPr>
        <p:spPr>
          <a:xfrm>
            <a:off x="4151540" y="5163094"/>
            <a:ext cx="3800154" cy="646331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E986BD31-3CCA-439A-8F7D-3D1C67F26D1E}"/>
              </a:ext>
            </a:extLst>
          </p:cNvPr>
          <p:cNvSpPr txBox="1"/>
          <p:nvPr/>
        </p:nvSpPr>
        <p:spPr>
          <a:xfrm>
            <a:off x="7139078" y="4257256"/>
            <a:ext cx="3970200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Totožný způsob ošetření chyby doplníme do default větve příkazu switch.</a:t>
            </a:r>
          </a:p>
        </p:txBody>
      </p:sp>
    </p:spTree>
    <p:extLst>
      <p:ext uri="{BB962C8B-B14F-4D97-AF65-F5344CB8AC3E}">
        <p14:creationId xmlns:p14="http://schemas.microsoft.com/office/powerpoint/2010/main" val="12771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B14D2C-92FE-4487-9FBA-984395FD9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97309A0-768A-434B-B7AB-88882BC96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2948B09D-DF7D-969C-2EEA-DF1DFE130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2919CF01-583F-415E-9968-6F8D22CFF720}"/>
              </a:ext>
            </a:extLst>
          </p:cNvPr>
          <p:cNvSpPr/>
          <p:nvPr/>
        </p:nvSpPr>
        <p:spPr>
          <a:xfrm>
            <a:off x="4061893" y="2567435"/>
            <a:ext cx="2240295" cy="1608151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BC32CF53-CE6C-4231-AA96-717DB772D5DC}"/>
              </a:ext>
            </a:extLst>
          </p:cNvPr>
          <p:cNvSpPr txBox="1"/>
          <p:nvPr/>
        </p:nvSpPr>
        <p:spPr>
          <a:xfrm>
            <a:off x="6903707" y="4175586"/>
            <a:ext cx="4843656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Aby se bylo možné v PHP kódu následně vyznat, nebudeme psát načítání a kontroly položek přímo do příkazu switch, ale pro každý typ požadavku si definujeme vlastní funkci.</a:t>
            </a:r>
          </a:p>
          <a:p>
            <a:endParaRPr lang="cs-CZ" dirty="0"/>
          </a:p>
          <a:p>
            <a:r>
              <a:rPr lang="cs-CZ" dirty="0"/>
              <a:t>Připojení k databázi předáváme do příslušných funkcí jako parametr, abychom se vyhnuli zbytečnému používání globálních proměnných.</a:t>
            </a:r>
          </a:p>
        </p:txBody>
      </p:sp>
    </p:spTree>
    <p:extLst>
      <p:ext uri="{BB962C8B-B14F-4D97-AF65-F5344CB8AC3E}">
        <p14:creationId xmlns:p14="http://schemas.microsoft.com/office/powerpoint/2010/main" val="2876714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B2E17EE-8D20-4CAE-8965-2B936CB33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7A4D9D2-FCD7-4E30-8DAE-47F20B512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Obrázek 11">
            <a:extLst>
              <a:ext uri="{FF2B5EF4-FFF2-40B4-BE49-F238E27FC236}">
                <a16:creationId xmlns:a16="http://schemas.microsoft.com/office/drawing/2014/main" id="{A01506BB-610A-3748-0BA0-A2BDA95C8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211DB143-2A00-4403-8E93-D3835C30E053}"/>
              </a:ext>
            </a:extLst>
          </p:cNvPr>
          <p:cNvSpPr/>
          <p:nvPr/>
        </p:nvSpPr>
        <p:spPr>
          <a:xfrm>
            <a:off x="1115583" y="2057606"/>
            <a:ext cx="6656817" cy="425429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D9615A10-2045-4AE2-9B13-4AE3D9750785}"/>
              </a:ext>
            </a:extLst>
          </p:cNvPr>
          <p:cNvSpPr txBox="1"/>
          <p:nvPr/>
        </p:nvSpPr>
        <p:spPr>
          <a:xfrm>
            <a:off x="6948629" y="3164681"/>
            <a:ext cx="5243371" cy="3693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Nejprve si definujeme funkci pro načtení údajů jedné osoby podle ID odeslaného v parametru požadavku. </a:t>
            </a:r>
          </a:p>
          <a:p>
            <a:endParaRPr lang="cs-CZ" dirty="0"/>
          </a:p>
          <a:p>
            <a:r>
              <a:rPr lang="cs-CZ" dirty="0"/>
              <a:t>Pro načtení dat používáme </a:t>
            </a:r>
            <a:r>
              <a:rPr lang="cs-CZ" dirty="0" err="1"/>
              <a:t>prepared</a:t>
            </a:r>
            <a:r>
              <a:rPr lang="cs-CZ" dirty="0"/>
              <a:t> </a:t>
            </a:r>
            <a:r>
              <a:rPr lang="cs-CZ" dirty="0" err="1"/>
              <a:t>statement</a:t>
            </a:r>
            <a:r>
              <a:rPr lang="cs-CZ" dirty="0"/>
              <a:t>, ID předáváme jako parametr (stejně jako u normálních webových stránek i u API musíme počítat s rizikem útoku).</a:t>
            </a:r>
          </a:p>
          <a:p>
            <a:endParaRPr lang="cs-CZ" dirty="0"/>
          </a:p>
          <a:p>
            <a:r>
              <a:rPr lang="cs-CZ" dirty="0"/>
              <a:t>Následně si vytvoříme pole s daty odpovědi a odešleme je. POZOR: Neposílejte jako odpověď v rámci JSON API celá data získaná z DB</a:t>
            </a:r>
            <a:r>
              <a:rPr lang="en-US" dirty="0"/>
              <a:t>! P</a:t>
            </a:r>
            <a:r>
              <a:rPr lang="cs-CZ" dirty="0" err="1"/>
              <a:t>ři</a:t>
            </a:r>
            <a:r>
              <a:rPr lang="cs-CZ" dirty="0"/>
              <a:t> pozdější úpravě aplikace riskujete, že byste odeslali i data, která se k uživateli dostat nemají.</a:t>
            </a:r>
          </a:p>
        </p:txBody>
      </p:sp>
    </p:spTree>
    <p:extLst>
      <p:ext uri="{BB962C8B-B14F-4D97-AF65-F5344CB8AC3E}">
        <p14:creationId xmlns:p14="http://schemas.microsoft.com/office/powerpoint/2010/main" val="2784470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EE9E07C-FBF2-463D-8F9E-4A73DE18E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" name="Obrázek 13">
            <a:extLst>
              <a:ext uri="{FF2B5EF4-FFF2-40B4-BE49-F238E27FC236}">
                <a16:creationId xmlns:a16="http://schemas.microsoft.com/office/drawing/2014/main" id="{C3F7A0A5-9150-E2B5-8A65-206865B3E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A822AC53-A3BC-474C-8133-E37DDA9E93C7}"/>
              </a:ext>
            </a:extLst>
          </p:cNvPr>
          <p:cNvSpPr/>
          <p:nvPr/>
        </p:nvSpPr>
        <p:spPr>
          <a:xfrm>
            <a:off x="1159278" y="1566888"/>
            <a:ext cx="7106181" cy="4520147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7C555FA5-F0D9-445C-820C-03D63A8EBA67}"/>
              </a:ext>
            </a:extLst>
          </p:cNvPr>
          <p:cNvSpPr txBox="1"/>
          <p:nvPr/>
        </p:nvSpPr>
        <p:spPr>
          <a:xfrm>
            <a:off x="7939178" y="2177456"/>
            <a:ext cx="3687948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Obdobně definujeme funkci vracející údaje o všech uložených osobách.</a:t>
            </a:r>
          </a:p>
        </p:txBody>
      </p:sp>
    </p:spTree>
    <p:extLst>
      <p:ext uri="{BB962C8B-B14F-4D97-AF65-F5344CB8AC3E}">
        <p14:creationId xmlns:p14="http://schemas.microsoft.com/office/powerpoint/2010/main" val="316328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6ABC4E-7816-4165-BEEE-BCFC6E8DC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1814D34-A77E-4D46-95BB-4FB9D8249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16A09DF1-7C83-4244-9011-017E558DA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E3A8E172-90F2-46C0-A9F5-D8CCCCBBAE8D}"/>
              </a:ext>
            </a:extLst>
          </p:cNvPr>
          <p:cNvSpPr/>
          <p:nvPr/>
        </p:nvSpPr>
        <p:spPr>
          <a:xfrm>
            <a:off x="1232165" y="3139409"/>
            <a:ext cx="2712306" cy="2436638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459AC51D-4D19-4F53-8C9F-915A93C27778}"/>
              </a:ext>
            </a:extLst>
          </p:cNvPr>
          <p:cNvSpPr txBox="1"/>
          <p:nvPr/>
        </p:nvSpPr>
        <p:spPr>
          <a:xfrm>
            <a:off x="6264434" y="3211126"/>
            <a:ext cx="3970200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Načítání záznamů máme hotové. Je na čase se podívat na definici dalších funkcí pro aktualizaci a mazání osob.</a:t>
            </a:r>
          </a:p>
          <a:p>
            <a:endParaRPr lang="cs-CZ" dirty="0"/>
          </a:p>
          <a:p>
            <a:r>
              <a:rPr lang="cs-CZ" dirty="0"/>
              <a:t>Volání daných funkcí si doplníme do příkazu switch…</a:t>
            </a:r>
          </a:p>
        </p:txBody>
      </p:sp>
    </p:spTree>
    <p:extLst>
      <p:ext uri="{BB962C8B-B14F-4D97-AF65-F5344CB8AC3E}">
        <p14:creationId xmlns:p14="http://schemas.microsoft.com/office/powerpoint/2010/main" val="1653831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E7E41B-CB76-445F-9208-65683FB83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B7D8212-FBB0-42C1-B8D1-E3C429132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58707882-4C90-70CC-0346-B5074F672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69436DB0-86D6-48B4-8AEA-301A8F1BF566}"/>
              </a:ext>
            </a:extLst>
          </p:cNvPr>
          <p:cNvSpPr/>
          <p:nvPr/>
        </p:nvSpPr>
        <p:spPr>
          <a:xfrm>
            <a:off x="1154996" y="1878064"/>
            <a:ext cx="3049451" cy="4351338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A55900CA-8B0C-4E2A-A27A-409ED4935894}"/>
              </a:ext>
            </a:extLst>
          </p:cNvPr>
          <p:cNvSpPr txBox="1"/>
          <p:nvPr/>
        </p:nvSpPr>
        <p:spPr>
          <a:xfrm>
            <a:off x="4414623" y="1825625"/>
            <a:ext cx="3970200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…a samotné funkce poté definujeme s TODO komentáři, abychom nezapomněli něco dodělat.</a:t>
            </a:r>
          </a:p>
        </p:txBody>
      </p:sp>
    </p:spTree>
    <p:extLst>
      <p:ext uri="{BB962C8B-B14F-4D97-AF65-F5344CB8AC3E}">
        <p14:creationId xmlns:p14="http://schemas.microsoft.com/office/powerpoint/2010/main" val="18583203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2B8480-0B88-4057-A7C9-FABB742C3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B3C3FA0-443F-4F97-8A9D-F62265173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6623AA23-23DB-CBC3-4CFD-205717061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21F1DBEA-343D-4073-9B8E-85B2D37A439E}"/>
              </a:ext>
            </a:extLst>
          </p:cNvPr>
          <p:cNvSpPr/>
          <p:nvPr/>
        </p:nvSpPr>
        <p:spPr>
          <a:xfrm>
            <a:off x="1105490" y="4460965"/>
            <a:ext cx="6155922" cy="1635035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066E7987-B0CF-459E-8894-2871D9B320D3}"/>
              </a:ext>
            </a:extLst>
          </p:cNvPr>
          <p:cNvSpPr txBox="1"/>
          <p:nvPr/>
        </p:nvSpPr>
        <p:spPr>
          <a:xfrm>
            <a:off x="7528702" y="3538473"/>
            <a:ext cx="4203770" cy="286232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Vstupy budeme v rámci API také přijímat ve formátu JSON. Takto zpracovávaná data ale nemůžeme načítat z </a:t>
            </a:r>
            <a:r>
              <a:rPr lang="en-US" dirty="0"/>
              <a:t>$_POST</a:t>
            </a:r>
            <a:r>
              <a:rPr lang="cs-CZ" dirty="0"/>
              <a:t>, ale musíme získat celé tělo HTTP požadavku a následně jej dekódovat jako JSON.</a:t>
            </a:r>
          </a:p>
          <a:p>
            <a:endParaRPr lang="cs-CZ" dirty="0"/>
          </a:p>
          <a:p>
            <a:r>
              <a:rPr lang="cs-CZ" dirty="0"/>
              <a:t>Za tímto účelem si definujeme funkci </a:t>
            </a:r>
            <a:r>
              <a:rPr lang="cs-CZ" dirty="0" err="1"/>
              <a:t>get_json_request_body</a:t>
            </a:r>
            <a:r>
              <a:rPr lang="en-US" dirty="0"/>
              <a:t>().</a:t>
            </a:r>
            <a:endParaRPr lang="cs-CZ" dirty="0"/>
          </a:p>
          <a:p>
            <a:endParaRPr lang="cs-CZ" dirty="0"/>
          </a:p>
          <a:p>
            <a:r>
              <a:rPr lang="cs-CZ" dirty="0"/>
              <a:t>Všimněte si načítání vstupu z php://input</a:t>
            </a:r>
          </a:p>
        </p:txBody>
      </p:sp>
    </p:spTree>
    <p:extLst>
      <p:ext uri="{BB962C8B-B14F-4D97-AF65-F5344CB8AC3E}">
        <p14:creationId xmlns:p14="http://schemas.microsoft.com/office/powerpoint/2010/main" val="2090399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58C40162-570E-2DD0-3D5D-010A7AB12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34127649-FFAE-4C09-A15B-4E0D1412B2E9}"/>
              </a:ext>
            </a:extLst>
          </p:cNvPr>
          <p:cNvSpPr/>
          <p:nvPr/>
        </p:nvSpPr>
        <p:spPr>
          <a:xfrm>
            <a:off x="1196304" y="822198"/>
            <a:ext cx="8234567" cy="5650320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B4046C87-B56F-4392-902E-33AFB92ACD3F}"/>
              </a:ext>
            </a:extLst>
          </p:cNvPr>
          <p:cNvSpPr txBox="1"/>
          <p:nvPr/>
        </p:nvSpPr>
        <p:spPr>
          <a:xfrm>
            <a:off x="8126308" y="1557304"/>
            <a:ext cx="3522353" cy="397031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A jdeme na vytváření nových osob. </a:t>
            </a:r>
          </a:p>
          <a:p>
            <a:endParaRPr lang="cs-CZ" dirty="0"/>
          </a:p>
          <a:p>
            <a:r>
              <a:rPr lang="cs-CZ" dirty="0"/>
              <a:t>Načteme JSON data ze vstupu a následně je musíme zkontrolovat. Kontroly vypadají podobně, jako kdybychom tato data získali např. z formuláře.</a:t>
            </a:r>
          </a:p>
          <a:p>
            <a:endParaRPr lang="cs-CZ" dirty="0"/>
          </a:p>
          <a:p>
            <a:r>
              <a:rPr lang="cs-CZ" dirty="0"/>
              <a:t>Pokud při kontrole objevíme nějaké chyby, odešleme je s chybovým kódem 400.</a:t>
            </a:r>
          </a:p>
          <a:p>
            <a:endParaRPr lang="cs-CZ" dirty="0"/>
          </a:p>
          <a:p>
            <a:r>
              <a:rPr lang="cs-CZ" dirty="0"/>
              <a:t>Pokud chyby nenajdeme, uložíme nový záznam do databáze.</a:t>
            </a:r>
          </a:p>
        </p:txBody>
      </p:sp>
    </p:spTree>
    <p:extLst>
      <p:ext uri="{BB962C8B-B14F-4D97-AF65-F5344CB8AC3E}">
        <p14:creationId xmlns:p14="http://schemas.microsoft.com/office/powerpoint/2010/main" val="38113562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A872A0-E99C-4933-B540-A8F1BA4B6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728CCFD-C422-44E5-BAFA-B4964B1AD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3B658531-B6D5-2C29-8C3C-A3676EC82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F1E91B4C-D5DF-487E-A1D7-240993610295}"/>
              </a:ext>
            </a:extLst>
          </p:cNvPr>
          <p:cNvSpPr/>
          <p:nvPr/>
        </p:nvSpPr>
        <p:spPr>
          <a:xfrm>
            <a:off x="1419202" y="3411849"/>
            <a:ext cx="6831345" cy="2765113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27DF9090-8A01-4868-ACA4-5B6E66282CEE}"/>
              </a:ext>
            </a:extLst>
          </p:cNvPr>
          <p:cNvSpPr txBox="1"/>
          <p:nvPr/>
        </p:nvSpPr>
        <p:spPr>
          <a:xfrm>
            <a:off x="8250547" y="800928"/>
            <a:ext cx="3522353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 uložení záznamu je ještě nutné informovat uživatele o výsledku. Pro jednodušší práci s API vracíme rovnou celý daný záznam osoby, tentokrát se stavovým kódem 201 (tj. „</a:t>
            </a:r>
            <a:r>
              <a:rPr lang="cs-CZ" dirty="0" err="1"/>
              <a:t>created</a:t>
            </a:r>
            <a:r>
              <a:rPr lang="cs-CZ" dirty="0"/>
              <a:t>“)</a:t>
            </a:r>
          </a:p>
        </p:txBody>
      </p:sp>
    </p:spTree>
    <p:extLst>
      <p:ext uri="{BB962C8B-B14F-4D97-AF65-F5344CB8AC3E}">
        <p14:creationId xmlns:p14="http://schemas.microsoft.com/office/powerpoint/2010/main" val="27127417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A6F6E6E-B91E-440A-9AA9-AC40ACF34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2108FD91-29F0-E330-1184-5E7F16A09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00A3075D-4D3A-46C0-A8B7-F4FECE7141DC}"/>
              </a:ext>
            </a:extLst>
          </p:cNvPr>
          <p:cNvSpPr/>
          <p:nvPr/>
        </p:nvSpPr>
        <p:spPr>
          <a:xfrm>
            <a:off x="1385952" y="4661647"/>
            <a:ext cx="6960189" cy="1664366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57FC9AC4-99C3-4D14-905A-D23C3CF08119}"/>
              </a:ext>
            </a:extLst>
          </p:cNvPr>
          <p:cNvSpPr txBox="1"/>
          <p:nvPr/>
        </p:nvSpPr>
        <p:spPr>
          <a:xfrm>
            <a:off x="7641535" y="1768247"/>
            <a:ext cx="4550465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Funkce pro aktualizaci údajů existující osoby  bude vypadat podobně, jako vytváření osoby nové, ale s jednou podstatnou kontrolou navíc. Musíme nejprve ověřit, že v DB existuje osoba, kterou chceme aktualizovat.</a:t>
            </a:r>
          </a:p>
        </p:txBody>
      </p:sp>
    </p:spTree>
    <p:extLst>
      <p:ext uri="{BB962C8B-B14F-4D97-AF65-F5344CB8AC3E}">
        <p14:creationId xmlns:p14="http://schemas.microsoft.com/office/powerpoint/2010/main" val="34531169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AABADB-F357-41F6-A3C4-A9D09D565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24AB77C-A2B9-4167-8A4D-089653062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3B062085-B46B-B1BB-B85A-77033ECEE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285DD53E-B9EF-4C2F-BC2E-51B8CCB09B03}"/>
              </a:ext>
            </a:extLst>
          </p:cNvPr>
          <p:cNvSpPr/>
          <p:nvPr/>
        </p:nvSpPr>
        <p:spPr>
          <a:xfrm>
            <a:off x="1503095" y="2877671"/>
            <a:ext cx="5130787" cy="3119717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50DDB6C9-B183-47DC-A1B5-ECF966F8280B}"/>
              </a:ext>
            </a:extLst>
          </p:cNvPr>
          <p:cNvSpPr txBox="1"/>
          <p:nvPr/>
        </p:nvSpPr>
        <p:spPr>
          <a:xfrm>
            <a:off x="8273401" y="1689388"/>
            <a:ext cx="2854775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Následovat budou normální kontroly vstupních dat.</a:t>
            </a:r>
          </a:p>
        </p:txBody>
      </p:sp>
    </p:spTree>
    <p:extLst>
      <p:ext uri="{BB962C8B-B14F-4D97-AF65-F5344CB8AC3E}">
        <p14:creationId xmlns:p14="http://schemas.microsoft.com/office/powerpoint/2010/main" val="31394144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71CECADC-5C0A-CA85-F758-9858EA41C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36507B67-7DB1-41C8-99DE-63B0955519BE}"/>
              </a:ext>
            </a:extLst>
          </p:cNvPr>
          <p:cNvSpPr/>
          <p:nvPr/>
        </p:nvSpPr>
        <p:spPr>
          <a:xfrm>
            <a:off x="1494090" y="965819"/>
            <a:ext cx="8967722" cy="4208375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12E5A395-8923-4BD6-8962-F6527829C938}"/>
              </a:ext>
            </a:extLst>
          </p:cNvPr>
          <p:cNvSpPr txBox="1"/>
          <p:nvPr/>
        </p:nvSpPr>
        <p:spPr>
          <a:xfrm>
            <a:off x="8286384" y="4480794"/>
            <a:ext cx="3522353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</a:t>
            </a:r>
            <a:r>
              <a:rPr lang="cs-CZ" dirty="0" err="1"/>
              <a:t>ásledně</a:t>
            </a:r>
            <a:r>
              <a:rPr lang="cs-CZ" dirty="0"/>
              <a:t> zaktualizujeme data v DB a opět odešleme odpovídající odpověď uživateli. Stavový kód bude tentokrát 200 (tj. OK).</a:t>
            </a:r>
          </a:p>
        </p:txBody>
      </p:sp>
    </p:spTree>
    <p:extLst>
      <p:ext uri="{BB962C8B-B14F-4D97-AF65-F5344CB8AC3E}">
        <p14:creationId xmlns:p14="http://schemas.microsoft.com/office/powerpoint/2010/main" val="2117591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F96B860-86EB-410B-B49A-DE8E2DD03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E7084CD-35E5-443A-A323-D7E84B3DA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A0E9D787-882B-54AE-E930-99002F846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CCEDD28B-4CAD-4AB9-996B-959CCA8EF8D4}"/>
              </a:ext>
            </a:extLst>
          </p:cNvPr>
          <p:cNvSpPr/>
          <p:nvPr/>
        </p:nvSpPr>
        <p:spPr>
          <a:xfrm>
            <a:off x="1254045" y="1931698"/>
            <a:ext cx="8105108" cy="3599526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C10064F6-6F31-4683-8BBC-18BF6FE26AD0}"/>
              </a:ext>
            </a:extLst>
          </p:cNvPr>
          <p:cNvSpPr txBox="1"/>
          <p:nvPr/>
        </p:nvSpPr>
        <p:spPr>
          <a:xfrm>
            <a:off x="8477922" y="259527"/>
            <a:ext cx="3622476" cy="286232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Jako poslední základní funkce nám chybí možnost mazání osob.</a:t>
            </a:r>
          </a:p>
          <a:p>
            <a:endParaRPr lang="cs-CZ" dirty="0"/>
          </a:p>
          <a:p>
            <a:r>
              <a:rPr lang="cs-CZ" dirty="0"/>
              <a:t>I v případě mazání musíme nejprve zkontrolovat, jestli osoba s daným ID v databázi existuje.</a:t>
            </a:r>
            <a:endParaRPr lang="en-US" dirty="0"/>
          </a:p>
          <a:p>
            <a:endParaRPr lang="en-US" dirty="0"/>
          </a:p>
          <a:p>
            <a:r>
              <a:rPr lang="cs-CZ" dirty="0"/>
              <a:t>Nakonec daný záznam osoby z databáze opravdu smažeme a uživateli odešleme potvrzení.</a:t>
            </a:r>
          </a:p>
        </p:txBody>
      </p:sp>
    </p:spTree>
    <p:extLst>
      <p:ext uri="{BB962C8B-B14F-4D97-AF65-F5344CB8AC3E}">
        <p14:creationId xmlns:p14="http://schemas.microsoft.com/office/powerpoint/2010/main" val="39203455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FED2B5-A96D-A0AA-B8F6-BA1E1EE1E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B084675-E0F1-0E82-F3A6-E8ACA51DA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B77C731A-C923-B66E-7649-90FF9D613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8" name="Obdélník 7">
            <a:extLst>
              <a:ext uri="{FF2B5EF4-FFF2-40B4-BE49-F238E27FC236}">
                <a16:creationId xmlns:a16="http://schemas.microsoft.com/office/drawing/2014/main" id="{7F2F389B-50E1-C945-2551-FE8128E8A6FB}"/>
              </a:ext>
            </a:extLst>
          </p:cNvPr>
          <p:cNvSpPr/>
          <p:nvPr/>
        </p:nvSpPr>
        <p:spPr>
          <a:xfrm>
            <a:off x="1209222" y="1304169"/>
            <a:ext cx="5810143" cy="75164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762CD747-F468-8325-1B95-E59594260041}"/>
              </a:ext>
            </a:extLst>
          </p:cNvPr>
          <p:cNvSpPr txBox="1"/>
          <p:nvPr/>
        </p:nvSpPr>
        <p:spPr>
          <a:xfrm>
            <a:off x="8477922" y="259527"/>
            <a:ext cx="3622476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Základ REST API máme hotový, ale ještě jej můžeme trochu vylepšit.</a:t>
            </a:r>
          </a:p>
          <a:p>
            <a:endParaRPr lang="cs-CZ" dirty="0"/>
          </a:p>
          <a:p>
            <a:r>
              <a:rPr lang="cs-CZ" dirty="0"/>
              <a:t>Pro testování budeme chtít posílat odpovídající HTTP hlavičky. Pro zjednodušení je vkládáme přímo do </a:t>
            </a:r>
            <a:r>
              <a:rPr lang="cs-CZ" dirty="0" err="1"/>
              <a:t>endpointu</a:t>
            </a:r>
            <a:r>
              <a:rPr lang="cs-CZ" dirty="0"/>
              <a:t> person, ale mohly by být ve vkládaném souboru atp.</a:t>
            </a:r>
          </a:p>
        </p:txBody>
      </p:sp>
    </p:spTree>
    <p:extLst>
      <p:ext uri="{BB962C8B-B14F-4D97-AF65-F5344CB8AC3E}">
        <p14:creationId xmlns:p14="http://schemas.microsoft.com/office/powerpoint/2010/main" val="33469997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D8FD817-C8BC-B789-2674-5CB088DF6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3A68432-CEC9-668A-B66D-E44AB3016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F908DBDB-9DF6-2E77-C511-64E5D192B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FE5CC657-12E9-6B19-EDCD-B659D134EDFD}"/>
              </a:ext>
            </a:extLst>
          </p:cNvPr>
          <p:cNvSpPr/>
          <p:nvPr/>
        </p:nvSpPr>
        <p:spPr>
          <a:xfrm>
            <a:off x="1254045" y="4052047"/>
            <a:ext cx="6348026" cy="582706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7FDDFFCB-6F7A-F7D8-55CA-8A2D6E2E4E4D}"/>
              </a:ext>
            </a:extLst>
          </p:cNvPr>
          <p:cNvSpPr txBox="1"/>
          <p:nvPr/>
        </p:nvSpPr>
        <p:spPr>
          <a:xfrm>
            <a:off x="7731324" y="3604736"/>
            <a:ext cx="3622476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Následně povolíme také využití hlavičky „X-HTTP-</a:t>
            </a:r>
            <a:r>
              <a:rPr lang="cs-CZ" dirty="0" err="1"/>
              <a:t>Method</a:t>
            </a:r>
            <a:r>
              <a:rPr lang="cs-CZ" dirty="0"/>
              <a:t>-</a:t>
            </a:r>
            <a:r>
              <a:rPr lang="cs-CZ" dirty="0" err="1"/>
              <a:t>Override</a:t>
            </a:r>
            <a:r>
              <a:rPr lang="cs-CZ" dirty="0"/>
              <a:t>“, kterou použijeme pro detekci metody DELETE, pokud je na serveru zakázaná.</a:t>
            </a:r>
          </a:p>
        </p:txBody>
      </p:sp>
    </p:spTree>
    <p:extLst>
      <p:ext uri="{BB962C8B-B14F-4D97-AF65-F5344CB8AC3E}">
        <p14:creationId xmlns:p14="http://schemas.microsoft.com/office/powerpoint/2010/main" val="36188124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202B80-7DF9-D456-8968-1188FD5B7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196B1B9-78FD-05B5-533D-1B79C1788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567250CF-7A88-284A-8759-EFDE90ABC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8" name="Obdélník 7">
            <a:extLst>
              <a:ext uri="{FF2B5EF4-FFF2-40B4-BE49-F238E27FC236}">
                <a16:creationId xmlns:a16="http://schemas.microsoft.com/office/drawing/2014/main" id="{B436BD6A-1441-C71C-E4CC-3C54E2F71532}"/>
              </a:ext>
            </a:extLst>
          </p:cNvPr>
          <p:cNvSpPr/>
          <p:nvPr/>
        </p:nvSpPr>
        <p:spPr>
          <a:xfrm>
            <a:off x="1254045" y="3729318"/>
            <a:ext cx="1462261" cy="493058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57C7F49A-15A0-EDAD-BD15-96C550D08022}"/>
              </a:ext>
            </a:extLst>
          </p:cNvPr>
          <p:cNvSpPr txBox="1"/>
          <p:nvPr/>
        </p:nvSpPr>
        <p:spPr>
          <a:xfrm>
            <a:off x="4004534" y="3129153"/>
            <a:ext cx="3622476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Jako poslední drobnost povolíme HTTP metodu OPTIONS, kterou prohlížeče běžně používají pro získání jen HTTP hlaviček pro AJAX.</a:t>
            </a:r>
          </a:p>
        </p:txBody>
      </p:sp>
    </p:spTree>
    <p:extLst>
      <p:ext uri="{BB962C8B-B14F-4D97-AF65-F5344CB8AC3E}">
        <p14:creationId xmlns:p14="http://schemas.microsoft.com/office/powerpoint/2010/main" val="13233221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22206B-A00A-4730-9912-42A9A572A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 to je vše </a:t>
            </a:r>
            <a:r>
              <a:rPr lang="cs-CZ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21925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1019</Words>
  <Application>Microsoft Office PowerPoint</Application>
  <PresentationFormat>Širokoúhlá obrazovka</PresentationFormat>
  <Paragraphs>80</Paragraphs>
  <Slides>30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Wingdings</vt:lpstr>
      <vt:lpstr>Motiv Office</vt:lpstr>
      <vt:lpstr>Ukázka tvorby REST API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A to je vše 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Ukázka tvorby REST API</dc:title>
  <dc:creator>Stanislav Vojíř</dc:creator>
  <cp:lastModifiedBy>Stanislav Vojíř</cp:lastModifiedBy>
  <cp:revision>91</cp:revision>
  <dcterms:created xsi:type="dcterms:W3CDTF">2020-04-20T12:17:44Z</dcterms:created>
  <dcterms:modified xsi:type="dcterms:W3CDTF">2026-05-04T00:09:44Z</dcterms:modified>
</cp:coreProperties>
</file>