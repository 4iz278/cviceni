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9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05" r:id="rId34"/>
    <p:sldId id="308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306" r:id="rId45"/>
    <p:sldId id="307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60"/>
  </p:normalViewPr>
  <p:slideViewPr>
    <p:cSldViewPr snapToGrid="0">
      <p:cViewPr varScale="1">
        <p:scale>
          <a:sx n="71" d="100"/>
          <a:sy n="71" d="100"/>
        </p:scale>
        <p:origin x="4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A59A03-A4C0-4058-815C-C33987BDB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71A9C88-8BAF-406A-B6EA-073659812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72DD97-67CB-40A9-8FCA-8718E4D8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D43673-6C17-48F5-92A7-D32469A9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E06C09-CF0F-449A-8045-689DD632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5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1FC01-9A47-452C-9E59-711E4DA4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146591-CBA5-4168-8236-FCDC95783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F3780F-C919-4D43-AD33-E269D328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3321278-3ABB-4E97-B13C-36326758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1FA6F7-B1E4-43E7-99CE-F2030C32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4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721948-3CBF-48A1-902E-EDA467FD9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6FCCD5-D771-4C7B-B9ED-D0925DC9D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7AA6328-D7E7-411C-947F-1957588A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425A1E-C9F4-400F-A57A-A0AED683E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1356A2-1580-4BE1-9D88-08F01A72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0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1EFF6B-F345-4A54-ABB1-4F1ACC74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77E4BD-0F16-48E4-AAD8-777F298A5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9DE2892-A9B2-48F3-97A5-E30388FE3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F98036-3EED-4A1C-BBF7-A3F19E5E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41BEFF7-C175-443C-A07A-72B9174B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5AF07AF-1CE9-4818-8550-DCFF2625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0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A7203-1C34-42FF-918F-98395002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5EF5EA4-532B-4EF3-A128-50A78FA95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F962BA1-C82F-4069-B357-EC4B19FAF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4781334-B406-44F6-95BB-EAD9FE234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23E85D2-5584-4D6A-9C07-CA28D9F86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56F8C54-205D-4A34-8017-28B36364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EC1C53A-D602-4CAA-8BBE-FCD1DF48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1C9F81F-A9BF-4E45-86C0-4F834A76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7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00ACDD-CA1F-4182-B7BD-D78C6548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B33224F-749F-4592-9286-56375EF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1EF0E96-949C-4703-9B16-B3660B96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2944D2F-E0AD-4744-B3B0-B5AEED7B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5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7AECDF6-E069-4B69-BAFC-BA83A32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B48FB3A-CF44-4CE6-B56E-40895D25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0028B9C-9340-4EB4-956B-5DF01B20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0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3C05DB-685C-40EE-9033-D7EE59D3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8795DB-BA87-4F31-93BD-0A1AAA678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B76F676-025E-4516-A6C3-C7247BF7E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C9BD573-2578-42B4-AB0C-7FF7B9FF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87B3376-9B76-41C4-A6DC-031D496D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BD042B-B591-4DC5-9470-206623FD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0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6E2897-3584-45DB-9E37-B839F0DF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27B2462-2207-43BA-9BF8-5031BEDAB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87C8317-A130-4973-8ABC-89384084C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715567F-1438-4BA1-BA67-F7558ADA0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A1890E7-30B1-4D12-A255-C1F1DE73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F9DF666-3E6B-4845-A145-ACE30F1F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5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0690AE-6CE2-45AB-ABB0-30B5A789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2C6EED6-A4ED-4CA4-81F5-BD32D2799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E4FEC7-08E4-4774-A2B5-B9899548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38A830F-B52A-473A-8BA3-E59A334F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35F312-8725-40FC-A47C-CAD2EB53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9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2D32826-78CC-4FD0-B6B7-AC05F4368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8041730-B49F-4B95-9E31-2EB62D297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B8338F-5ACE-4F00-B3BC-326829A3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C8342F-BF72-4C77-9879-04975CBE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A660CF-CC87-4E0D-BCC6-7D36D4FA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6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B8C7F3F-C9EF-46FF-BB06-D50E7058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85EFF89-1A82-4198-8D96-E7A1950A0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A6B05B5-3969-4AE1-90E7-2041B0038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5E5D6-51AF-4CE5-8D8F-3ECC247CB47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24E925E-9DC0-48D7-BFF0-E5900D9EC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CFB00BC-9FC2-4269-BC0C-CF88A431A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BC42-0469-4E17-8832-AD7BA680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4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5A9477-A018-4E74-A5D9-6873826904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Uživatelé v aplikaci Nástěnka</a:t>
            </a:r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80285FE-E6A6-4BCD-8B97-105A557421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23CCEE8-2063-41B6-AA54-5DBCF0D08172}"/>
              </a:ext>
            </a:extLst>
          </p:cNvPr>
          <p:cNvSpPr txBox="1"/>
          <p:nvPr/>
        </p:nvSpPr>
        <p:spPr>
          <a:xfrm>
            <a:off x="6321287" y="4657635"/>
            <a:ext cx="5486400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Tento postup přímo navazuje na dokončení řešení domácího úkolu. Import dat do databáze atp. zde tedy řešit nebudeme, ale rovnou se podíváme na rozšíření aplikace o možnost přihlášení uživatele.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4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43D753-8B4A-4A96-BB2F-0756EC35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81F56-D8CB-4C4A-A8A9-966CE9A6F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DF4511E-E1E1-41B0-ACB2-6FAC46CB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FB84589-2429-439C-B54A-B3B7FF08EBAB}"/>
              </a:ext>
            </a:extLst>
          </p:cNvPr>
          <p:cNvSpPr txBox="1"/>
          <p:nvPr/>
        </p:nvSpPr>
        <p:spPr>
          <a:xfrm>
            <a:off x="6286500" y="4576921"/>
            <a:ext cx="5486400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 podkladů ke cvičení víme, že pro uložení do databáze budeme hesla </a:t>
            </a:r>
            <a:r>
              <a:rPr lang="cs-CZ" dirty="0" err="1"/>
              <a:t>hashovat</a:t>
            </a:r>
            <a:r>
              <a:rPr lang="cs-CZ" dirty="0"/>
              <a:t> funkcí </a:t>
            </a:r>
            <a:r>
              <a:rPr lang="cs-CZ" dirty="0" err="1"/>
              <a:t>password_hash</a:t>
            </a:r>
            <a:r>
              <a:rPr lang="en-US" dirty="0"/>
              <a:t>(). Pro </a:t>
            </a:r>
            <a:r>
              <a:rPr lang="en-US" dirty="0" err="1"/>
              <a:t>ulo</a:t>
            </a:r>
            <a:r>
              <a:rPr lang="cs-CZ" dirty="0"/>
              <a:t>žení do databáze musíme ale do tabulky </a:t>
            </a:r>
            <a:r>
              <a:rPr lang="cs-CZ" dirty="0" err="1"/>
              <a:t>users</a:t>
            </a:r>
            <a:r>
              <a:rPr lang="cs-CZ" dirty="0"/>
              <a:t> doplnit sloupec pro uložení hesla. </a:t>
            </a:r>
          </a:p>
          <a:p>
            <a:endParaRPr lang="cs-CZ" dirty="0"/>
          </a:p>
          <a:p>
            <a:r>
              <a:rPr lang="cs-CZ" dirty="0"/>
              <a:t>Pro zjištění jeho vhodného datového typu se koukneme do PHP manuálu, jak dlouhý takový </a:t>
            </a:r>
            <a:r>
              <a:rPr lang="cs-CZ" dirty="0" err="1"/>
              <a:t>hash</a:t>
            </a:r>
            <a:r>
              <a:rPr lang="cs-CZ" dirty="0"/>
              <a:t> hesla vlastně je.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7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1C4A2EAE-5D42-8FB3-53B1-3FE412B62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783267B-2BDF-49B3-9F3A-22664B0FD16F}"/>
              </a:ext>
            </a:extLst>
          </p:cNvPr>
          <p:cNvSpPr txBox="1"/>
          <p:nvPr/>
        </p:nvSpPr>
        <p:spPr>
          <a:xfrm>
            <a:off x="6321287" y="4657635"/>
            <a:ext cx="54864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se přihlásíme do </a:t>
            </a:r>
            <a:r>
              <a:rPr lang="cs-CZ" dirty="0" err="1"/>
              <a:t>phpMyAdminu</a:t>
            </a:r>
            <a:r>
              <a:rPr lang="cs-CZ" dirty="0"/>
              <a:t> na serveru eso.vse.cz a zobrazíme si tabulku </a:t>
            </a:r>
            <a:r>
              <a:rPr lang="cs-CZ" dirty="0" err="1"/>
              <a:t>n_users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07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6BCB30-61FC-4158-B389-ADF03238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A319EF-0F0E-4C55-8614-5CC641621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186FA2BC-73AF-B5D3-9B5C-7CCBF0C8D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AC2DFE0-7C6D-4CEA-A4B2-E8823A851A55}"/>
              </a:ext>
            </a:extLst>
          </p:cNvPr>
          <p:cNvSpPr txBox="1"/>
          <p:nvPr/>
        </p:nvSpPr>
        <p:spPr>
          <a:xfrm>
            <a:off x="6414052" y="3544452"/>
            <a:ext cx="54864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Přepneme se na záložku struktura a zvolíme zde možnost doplnění dalších 2 polí do této tabulky.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49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0783C1-AA7B-4167-BEC6-6FA76D4B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9619E0-B3F3-4BAE-8A21-4B9393C2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9493700-D2B3-9C57-0E70-770C8F784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A78991C-57AA-4BE2-82DC-C604F8F21055}"/>
              </a:ext>
            </a:extLst>
          </p:cNvPr>
          <p:cNvSpPr txBox="1"/>
          <p:nvPr/>
        </p:nvSpPr>
        <p:spPr>
          <a:xfrm>
            <a:off x="6286500" y="3570956"/>
            <a:ext cx="5486400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Prvním z polí  (sloupců) bude </a:t>
            </a:r>
            <a:r>
              <a:rPr lang="cs-CZ" i="1" dirty="0" err="1"/>
              <a:t>password</a:t>
            </a:r>
            <a:r>
              <a:rPr lang="cs-CZ" dirty="0"/>
              <a:t>, do kterého uložíme </a:t>
            </a:r>
            <a:r>
              <a:rPr lang="cs-CZ" dirty="0" err="1"/>
              <a:t>hash</a:t>
            </a:r>
            <a:r>
              <a:rPr lang="cs-CZ" dirty="0"/>
              <a:t> hesla. Bude typu </a:t>
            </a:r>
            <a:r>
              <a:rPr lang="cs-CZ" dirty="0" err="1"/>
              <a:t>varchar</a:t>
            </a:r>
            <a:r>
              <a:rPr lang="cs-CZ" dirty="0"/>
              <a:t> o maximální délce 255.</a:t>
            </a:r>
          </a:p>
          <a:p>
            <a:endParaRPr lang="cs-CZ" dirty="0"/>
          </a:p>
          <a:p>
            <a:r>
              <a:rPr lang="cs-CZ" dirty="0"/>
              <a:t>Druhý datový sloupec bude </a:t>
            </a:r>
            <a:r>
              <a:rPr lang="cs-CZ" i="1" dirty="0" err="1"/>
              <a:t>active</a:t>
            </a:r>
            <a:r>
              <a:rPr lang="cs-CZ" dirty="0"/>
              <a:t>, který bude obsahovat 1 nebo 0 podle toho, zda je uživatelský účet aktivní.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26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2A8B44-4A77-4F56-BE12-732F26F3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F9355C-7500-4AEB-A2AB-AB7FD302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4598ABA4-DED1-5488-AE67-77EE4FC73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1EBDF51-2EC4-4B90-903A-EE3B4B374E18}"/>
              </a:ext>
            </a:extLst>
          </p:cNvPr>
          <p:cNvSpPr txBox="1"/>
          <p:nvPr/>
        </p:nvSpPr>
        <p:spPr>
          <a:xfrm>
            <a:off x="6440556" y="4140800"/>
            <a:ext cx="5486400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uložení změn bychom měli tyto sloupce vidět ve struktuře tabulky.</a:t>
            </a:r>
          </a:p>
          <a:p>
            <a:endParaRPr lang="cs-CZ" dirty="0"/>
          </a:p>
          <a:p>
            <a:r>
              <a:rPr lang="cs-CZ" dirty="0"/>
              <a:t>A můžeme se vrhnout na kód aplikace…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9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689065-7F54-43B5-8F57-1CCDA1A3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3FFD3E-9845-4C9C-87F6-AEBF8E4CE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E88CEEA5-8705-62CD-3E74-6CCDE3595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2A6F0AE-9FFC-4A30-8A1F-6E4879C1E6A3}"/>
              </a:ext>
            </a:extLst>
          </p:cNvPr>
          <p:cNvSpPr txBox="1"/>
          <p:nvPr/>
        </p:nvSpPr>
        <p:spPr>
          <a:xfrm>
            <a:off x="8110330" y="5174469"/>
            <a:ext cx="345881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Otevřeme si celý projekt v editoru.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1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C26177-8878-412B-BCCE-06655CAA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8A8548-9445-484F-A95D-CFE676B5E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D42847B-60A9-760A-EB5B-887ED7AAE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A95F57C-5784-4925-BB0A-C179643B6D01}"/>
              </a:ext>
            </a:extLst>
          </p:cNvPr>
          <p:cNvSpPr txBox="1"/>
          <p:nvPr/>
        </p:nvSpPr>
        <p:spPr>
          <a:xfrm>
            <a:off x="4072315" y="1229023"/>
            <a:ext cx="446598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první si vyrobíme soubor 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user.php</a:t>
            </a:r>
            <a:r>
              <a:rPr lang="cs-CZ" dirty="0"/>
              <a:t>, ve kterém bude spuštění session a funkce pro zjištění, zda je uživatel aktuálně přihlášen.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2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EEC5CC-6AFA-4B18-B0CB-BE4ABDC6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7635EC-1961-4236-BF5F-DBEF7DFD6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EA7BA748-4F4B-4609-50EA-76F7EC525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1EBFB07-27C4-4B68-BD2A-27206B019C8A}"/>
              </a:ext>
            </a:extLst>
          </p:cNvPr>
          <p:cNvSpPr txBox="1"/>
          <p:nvPr/>
        </p:nvSpPr>
        <p:spPr>
          <a:xfrm>
            <a:off x="7070035" y="2709564"/>
            <a:ext cx="466476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tomto souboru nejprve zavoláme funkci </a:t>
            </a:r>
            <a:r>
              <a:rPr lang="cs-CZ" dirty="0" err="1"/>
              <a:t>session_start</a:t>
            </a:r>
            <a:r>
              <a:rPr lang="en-US" dirty="0"/>
              <a:t>() pro </a:t>
            </a:r>
            <a:r>
              <a:rPr lang="en-US" dirty="0" err="1"/>
              <a:t>spu</a:t>
            </a:r>
            <a:r>
              <a:rPr lang="cs-CZ" dirty="0" err="1"/>
              <a:t>štění</a:t>
            </a:r>
            <a:r>
              <a:rPr lang="cs-CZ" dirty="0"/>
              <a:t> session.</a:t>
            </a:r>
          </a:p>
          <a:p>
            <a:endParaRPr lang="cs-CZ" dirty="0"/>
          </a:p>
          <a:p>
            <a:r>
              <a:rPr lang="cs-CZ" dirty="0"/>
              <a:t>Následně zde také načteme připojení k databázi (budeme jej potřebovat pro ověření platnosti uživatele).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42DA62C-5202-42F4-8F2B-307433D1D4E6}"/>
              </a:ext>
            </a:extLst>
          </p:cNvPr>
          <p:cNvSpPr/>
          <p:nvPr/>
        </p:nvSpPr>
        <p:spPr>
          <a:xfrm>
            <a:off x="3528682" y="1144588"/>
            <a:ext cx="4647129" cy="63835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95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946416-D94F-4E29-859A-0A30DEAA0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6573C-2ADF-4461-BD80-A0000F93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7C12CE5-0E36-9D26-3FA3-1E385A65F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E5AAF21E-058C-4178-B529-455AA435EE98}"/>
              </a:ext>
            </a:extLst>
          </p:cNvPr>
          <p:cNvSpPr/>
          <p:nvPr/>
        </p:nvSpPr>
        <p:spPr>
          <a:xfrm>
            <a:off x="3585882" y="1063610"/>
            <a:ext cx="2943458" cy="48689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5B4367D-EA6F-4AC8-BA8E-9A993B05F9CD}"/>
              </a:ext>
            </a:extLst>
          </p:cNvPr>
          <p:cNvSpPr txBox="1"/>
          <p:nvPr/>
        </p:nvSpPr>
        <p:spPr>
          <a:xfrm>
            <a:off x="7108135" y="1027906"/>
            <a:ext cx="4664765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upravíme soubory </a:t>
            </a:r>
            <a:r>
              <a:rPr lang="cs-CZ" dirty="0" err="1"/>
              <a:t>index.php</a:t>
            </a:r>
            <a:r>
              <a:rPr lang="cs-CZ" dirty="0"/>
              <a:t> tak, že místo načtení připojení souboru k databázi načítáme náš nový soubor </a:t>
            </a:r>
            <a:r>
              <a:rPr lang="cs-CZ" dirty="0" err="1"/>
              <a:t>user.php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68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04E35D-97B9-4685-97E9-45D7AA64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6F4286-B1E1-4AB0-BF7A-344C0DDBA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894D6AE-BA17-0682-A31A-BAC2E3436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B0527D3-42EE-4187-B791-5DF5E1F30548}"/>
              </a:ext>
            </a:extLst>
          </p:cNvPr>
          <p:cNvSpPr/>
          <p:nvPr/>
        </p:nvSpPr>
        <p:spPr>
          <a:xfrm>
            <a:off x="3540084" y="1107623"/>
            <a:ext cx="3654287" cy="71800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36F86D5-9E81-4A77-880E-0DE1A5EBBDCB}"/>
              </a:ext>
            </a:extLst>
          </p:cNvPr>
          <p:cNvSpPr txBox="1"/>
          <p:nvPr/>
        </p:nvSpPr>
        <p:spPr>
          <a:xfrm>
            <a:off x="7445273" y="1220116"/>
            <a:ext cx="302977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Totožnou úpravu provedeme také v souboru </a:t>
            </a:r>
            <a:r>
              <a:rPr lang="cs-CZ" dirty="0" err="1"/>
              <a:t>edit.php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4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8E91724-F36E-B392-CB1D-E6E2EB805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A792C551-3C08-464D-AA6E-69060945F0E8}"/>
              </a:ext>
            </a:extLst>
          </p:cNvPr>
          <p:cNvSpPr txBox="1"/>
          <p:nvPr/>
        </p:nvSpPr>
        <p:spPr>
          <a:xfrm>
            <a:off x="7126552" y="3476311"/>
            <a:ext cx="4664765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Soubor </a:t>
            </a:r>
            <a:r>
              <a:rPr lang="cs-CZ" dirty="0" err="1"/>
              <a:t>user.php</a:t>
            </a:r>
            <a:r>
              <a:rPr lang="cs-CZ" dirty="0"/>
              <a:t> už máme </a:t>
            </a:r>
            <a:r>
              <a:rPr lang="cs-CZ" dirty="0" err="1"/>
              <a:t>narequirovaný</a:t>
            </a:r>
            <a:r>
              <a:rPr lang="cs-CZ" dirty="0"/>
              <a:t> v hlavních skriptech, ale pro práci s uživateli nám nestačí jen spustit session.</a:t>
            </a:r>
          </a:p>
          <a:p>
            <a:endParaRPr lang="cs-CZ" dirty="0"/>
          </a:p>
          <a:p>
            <a:r>
              <a:rPr lang="cs-CZ" dirty="0"/>
              <a:t>ID přihlášeného uživatele budeme uchovávat v proměnné </a:t>
            </a:r>
            <a:r>
              <a:rPr lang="en-US" dirty="0"/>
              <a:t>$_SESSION['</a:t>
            </a:r>
            <a:r>
              <a:rPr lang="en-US" dirty="0" err="1"/>
              <a:t>user_id</a:t>
            </a:r>
            <a:r>
              <a:rPr lang="en-US" dirty="0"/>
              <a:t>‘]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Neměli bychom se ale jen spoléhat na to, že když je v session ID uživatele, tak je opravdu přihlášený. V mezičase mohlo dojít např. k zablokování či odstranění daného účtu….</a:t>
            </a:r>
            <a:endParaRPr lang="en-US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FF6447B-DBCC-44A4-8EA2-32880498D643}"/>
              </a:ext>
            </a:extLst>
          </p:cNvPr>
          <p:cNvSpPr/>
          <p:nvPr/>
        </p:nvSpPr>
        <p:spPr>
          <a:xfrm>
            <a:off x="3496234" y="1903002"/>
            <a:ext cx="4473390" cy="117461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8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571BEF-5B05-4AFA-B157-3E71B421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595F5C-902E-4B61-8756-7276FC9EE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AE4B38E-F5E8-84F0-8796-B6A4A3A2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EA361CB-E20E-421B-9622-7DE1A2109B07}"/>
              </a:ext>
            </a:extLst>
          </p:cNvPr>
          <p:cNvSpPr txBox="1"/>
          <p:nvPr/>
        </p:nvSpPr>
        <p:spPr>
          <a:xfrm>
            <a:off x="7222435" y="4180555"/>
            <a:ext cx="4664765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… pokud tedy máme v session ID uživatele, podíváme se do databáze, jestli tam takový uživatel je a jestli je aktivní (tj. může aplikaci používat).</a:t>
            </a:r>
          </a:p>
          <a:p>
            <a:endParaRPr lang="cs-CZ" dirty="0"/>
          </a:p>
          <a:p>
            <a:r>
              <a:rPr lang="cs-CZ" dirty="0"/>
              <a:t>K výběru uživatele z DB používáme nám již dobře známý </a:t>
            </a:r>
            <a:r>
              <a:rPr lang="cs-CZ" dirty="0" err="1"/>
              <a:t>prepared</a:t>
            </a:r>
            <a:r>
              <a:rPr lang="cs-CZ" dirty="0"/>
              <a:t> </a:t>
            </a:r>
            <a:r>
              <a:rPr lang="cs-CZ" dirty="0" err="1"/>
              <a:t>statement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303F421-EDBA-4FB0-84B0-A18380C61695}"/>
              </a:ext>
            </a:extLst>
          </p:cNvPr>
          <p:cNvSpPr/>
          <p:nvPr/>
        </p:nvSpPr>
        <p:spPr>
          <a:xfrm>
            <a:off x="3493602" y="1909139"/>
            <a:ext cx="7685385" cy="205296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4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9023782-ED49-F7D4-0515-0F616E809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06C6B33-B822-4124-A8E5-70239216B1F0}"/>
              </a:ext>
            </a:extLst>
          </p:cNvPr>
          <p:cNvSpPr txBox="1"/>
          <p:nvPr/>
        </p:nvSpPr>
        <p:spPr>
          <a:xfrm>
            <a:off x="7036126" y="5293105"/>
            <a:ext cx="4664765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uživatel neprošel ověřením vůči údajům v DB, tak </a:t>
            </a:r>
            <a:r>
              <a:rPr lang="en-US" dirty="0" err="1"/>
              <a:t>odhl</a:t>
            </a:r>
            <a:r>
              <a:rPr lang="cs-CZ" dirty="0" err="1"/>
              <a:t>ásíme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27412DA-BA1B-41B4-95D5-B47B3CDD1A24}"/>
              </a:ext>
            </a:extLst>
          </p:cNvPr>
          <p:cNvSpPr/>
          <p:nvPr/>
        </p:nvSpPr>
        <p:spPr>
          <a:xfrm>
            <a:off x="3731753" y="3167181"/>
            <a:ext cx="4937118" cy="143171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94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B85C3CA9-135F-E575-1158-A907A88C7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07B3D8F-1018-4775-AA3D-2E2EC7530328}"/>
              </a:ext>
            </a:extLst>
          </p:cNvPr>
          <p:cNvSpPr txBox="1"/>
          <p:nvPr/>
        </p:nvSpPr>
        <p:spPr>
          <a:xfrm>
            <a:off x="6689035" y="1397675"/>
            <a:ext cx="4664765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Abychom měli v databázi vůbec nějaké uživatele, začneme stránkou pro registraci uživatelů nových.</a:t>
            </a:r>
          </a:p>
          <a:p>
            <a:endParaRPr lang="cs-CZ" dirty="0"/>
          </a:p>
          <a:p>
            <a:r>
              <a:rPr lang="cs-CZ" dirty="0"/>
              <a:t>Vytvoříme si soubor (stránku) </a:t>
            </a:r>
            <a:r>
              <a:rPr lang="cs-CZ" dirty="0" err="1"/>
              <a:t>registration.php</a:t>
            </a:r>
            <a:r>
              <a:rPr lang="cs-CZ" dirty="0"/>
              <a:t>, do kterého načteme před chvílí dokončený skript 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user.php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68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A10B99-7947-4A27-868E-57863357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A501B2-3330-4A15-95D7-5582B9044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B314098-A068-5E77-8208-5A70393A8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29A2D56-EB7B-4245-93CF-5346FE21212E}"/>
              </a:ext>
            </a:extLst>
          </p:cNvPr>
          <p:cNvSpPr txBox="1"/>
          <p:nvPr/>
        </p:nvSpPr>
        <p:spPr>
          <a:xfrm>
            <a:off x="6910912" y="3633906"/>
            <a:ext cx="4664765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zapíšeme do registrační stránky ověření, jestli uživatel již není přihlášený. Pokud je, nemá smysl mu zobrazovat přihlašovací formulář =&gt; přesměrujeme jej na </a:t>
            </a:r>
            <a:r>
              <a:rPr lang="cs-CZ" dirty="0" err="1"/>
              <a:t>homepage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2699BE9-702E-4733-BAAF-4EFFD2A665EE}"/>
              </a:ext>
            </a:extLst>
          </p:cNvPr>
          <p:cNvSpPr/>
          <p:nvPr/>
        </p:nvSpPr>
        <p:spPr>
          <a:xfrm>
            <a:off x="3559669" y="1714174"/>
            <a:ext cx="4553390" cy="101559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0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D5294B-09C2-4D05-87C3-406DB027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54B077-14A6-4141-BBCA-551CD297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410DD15-87D6-68DD-1974-21A2A089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65E3DBA6-6037-4CE7-8769-F22B384AEFF3}"/>
              </a:ext>
            </a:extLst>
          </p:cNvPr>
          <p:cNvSpPr txBox="1"/>
          <p:nvPr/>
        </p:nvSpPr>
        <p:spPr>
          <a:xfrm>
            <a:off x="7036905" y="1940938"/>
            <a:ext cx="4664765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si připravíme základ stránky – vložíme do ní hlavičku a patičku a poznamenáme si pomocí TODO komentářů, kde nám ještě nějaké části chybí.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325BF744-60BC-4360-8F9B-ACB03FD53D68}"/>
              </a:ext>
            </a:extLst>
          </p:cNvPr>
          <p:cNvSpPr/>
          <p:nvPr/>
        </p:nvSpPr>
        <p:spPr>
          <a:xfrm>
            <a:off x="3574579" y="2011266"/>
            <a:ext cx="3231401" cy="226000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02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E8AF7E-0E4F-4A6D-B47C-0415FA1D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06C3E2-8A7D-4EC8-944F-86535782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8ADEFC00-9094-3EA4-BC3D-3ADBD0A07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212E79C-4468-4453-8E28-79C93A3FBE0C}"/>
              </a:ext>
            </a:extLst>
          </p:cNvPr>
          <p:cNvSpPr/>
          <p:nvPr/>
        </p:nvSpPr>
        <p:spPr>
          <a:xfrm>
            <a:off x="1278835" y="767730"/>
            <a:ext cx="6888012" cy="411052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B0E7199-D1DA-4DEC-B858-17C5CACC6A25}"/>
              </a:ext>
            </a:extLst>
          </p:cNvPr>
          <p:cNvSpPr txBox="1"/>
          <p:nvPr/>
        </p:nvSpPr>
        <p:spPr>
          <a:xfrm>
            <a:off x="7447722" y="4990963"/>
            <a:ext cx="466476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stránky si připravíme registrační formulář. Zatím nic nedělá, je to jen jeho HTML základ.</a:t>
            </a:r>
          </a:p>
          <a:p>
            <a:endParaRPr lang="cs-CZ" dirty="0"/>
          </a:p>
          <a:p>
            <a:r>
              <a:rPr lang="cs-CZ" dirty="0"/>
              <a:t>Na server budeme data posílat metodou POST, u hesla nezapomeneme na zadání 2x (kvůli překlepům).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6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3AA0CA-E112-4D13-978D-A7737236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28D7B77D-0022-92DA-963E-808286D12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FBDBAEF-7B40-44C0-B70D-51477EF9A917}"/>
              </a:ext>
            </a:extLst>
          </p:cNvPr>
          <p:cNvSpPr txBox="1"/>
          <p:nvPr/>
        </p:nvSpPr>
        <p:spPr>
          <a:xfrm>
            <a:off x="7328453" y="4626898"/>
            <a:ext cx="4863547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Kromě možnosti odeslání registračního formuláře musíme uživateli nabídnout také přihlášení se a měli bychom mu nabídnout také možnost odejít ze stránky bez registrace/přihlášení.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800D952-AA2F-42A5-A035-03A63539EB50}"/>
              </a:ext>
            </a:extLst>
          </p:cNvPr>
          <p:cNvSpPr/>
          <p:nvPr/>
        </p:nvSpPr>
        <p:spPr>
          <a:xfrm>
            <a:off x="1423440" y="4256956"/>
            <a:ext cx="5210441" cy="72741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7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04BC8F-D30C-4C30-8A56-F6C488E6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BC0111E-7834-64FA-E5AA-B8FB6AEAF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CEE6BB1B-F321-45EA-A522-9FC18BFA1D40}"/>
              </a:ext>
            </a:extLst>
          </p:cNvPr>
          <p:cNvSpPr/>
          <p:nvPr/>
        </p:nvSpPr>
        <p:spPr>
          <a:xfrm>
            <a:off x="1260517" y="2055813"/>
            <a:ext cx="3320448" cy="98683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FDCD7868-6A13-4BE1-8FA3-CC0B48A6170D}"/>
              </a:ext>
            </a:extLst>
          </p:cNvPr>
          <p:cNvSpPr txBox="1"/>
          <p:nvPr/>
        </p:nvSpPr>
        <p:spPr>
          <a:xfrm>
            <a:off x="4758312" y="1949066"/>
            <a:ext cx="534228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Základ formuláře máme hotový, je na čase jej tedy „oživit“. Přemístíme se na začátek souboru, konkrétně do místa, kde má být zpracování </a:t>
            </a:r>
            <a:r>
              <a:rPr lang="cs-CZ" dirty="0" err="1"/>
              <a:t>formuáře</a:t>
            </a:r>
            <a:r>
              <a:rPr lang="cs-CZ" dirty="0"/>
              <a:t>. A podíváme se, jestli nám přišla nějaká data metodou POST.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68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D900D8-EEA4-4B0D-A56F-D344A6B5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940874-066C-4199-9EE0-2D74FA25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76DBDB0-BD94-CE14-839A-24EA13C39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CCEAC65-F71D-4306-AEE2-FEAFCD208EF2}"/>
              </a:ext>
            </a:extLst>
          </p:cNvPr>
          <p:cNvSpPr/>
          <p:nvPr/>
        </p:nvSpPr>
        <p:spPr>
          <a:xfrm>
            <a:off x="1303392" y="2127199"/>
            <a:ext cx="4457992" cy="205931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1A536C6-8CC4-4E1D-8CB4-E64A6A66B566}"/>
              </a:ext>
            </a:extLst>
          </p:cNvPr>
          <p:cNvSpPr txBox="1"/>
          <p:nvPr/>
        </p:nvSpPr>
        <p:spPr>
          <a:xfrm>
            <a:off x="6430617" y="3994389"/>
            <a:ext cx="5342283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Stejně, jako u formulářů pro editaci příspěvků, i u registračního formuláře musíme data nejprve zkontrolovat.</a:t>
            </a:r>
            <a:endParaRPr lang="en-US" dirty="0"/>
          </a:p>
          <a:p>
            <a:endParaRPr lang="en-US" dirty="0"/>
          </a:p>
          <a:p>
            <a:r>
              <a:rPr lang="cs-CZ" dirty="0"/>
              <a:t>Pokud hodnota nesplňuje podmínky, které na ni klademe, poznamenáme si chybu do pole </a:t>
            </a:r>
            <a:r>
              <a:rPr lang="en-US" dirty="0"/>
              <a:t>$errors.</a:t>
            </a:r>
          </a:p>
          <a:p>
            <a:endParaRPr lang="en-US" dirty="0"/>
          </a:p>
          <a:p>
            <a:r>
              <a:rPr lang="en-US" dirty="0" err="1"/>
              <a:t>Nejprve</a:t>
            </a:r>
            <a:r>
              <a:rPr lang="en-US" dirty="0"/>
              <a:t> </a:t>
            </a:r>
            <a:r>
              <a:rPr lang="cs-CZ" dirty="0"/>
              <a:t>zapíšeme kontrolu jména.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78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7A2601-672C-44D4-9741-1E139704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3CF235-D839-4F02-9EE5-0F23D18F7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0F6D1D2-0AE0-0033-BE33-341190EA8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F6B6F9FF-17A7-4388-8A2D-AF61B044EF26}"/>
              </a:ext>
            </a:extLst>
          </p:cNvPr>
          <p:cNvSpPr/>
          <p:nvPr/>
        </p:nvSpPr>
        <p:spPr>
          <a:xfrm>
            <a:off x="1358350" y="3065550"/>
            <a:ext cx="4612144" cy="175746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6E58EAE-BDE9-4278-B0E3-F5DA4BD98A16}"/>
              </a:ext>
            </a:extLst>
          </p:cNvPr>
          <p:cNvSpPr txBox="1"/>
          <p:nvPr/>
        </p:nvSpPr>
        <p:spPr>
          <a:xfrm>
            <a:off x="6193929" y="3077964"/>
            <a:ext cx="4936435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druhou začneme doplňovat kontrolu pro e-mail. Tato kontrola bude dvoustupňová – nejprve zkontrolujeme, jestli uživatel zadal platný e-mail.</a:t>
            </a:r>
          </a:p>
        </p:txBody>
      </p:sp>
    </p:spTree>
    <p:extLst>
      <p:ext uri="{BB962C8B-B14F-4D97-AF65-F5344CB8AC3E}">
        <p14:creationId xmlns:p14="http://schemas.microsoft.com/office/powerpoint/2010/main" val="2641907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B7C52B-4043-46ED-B164-D3BF8F8E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F627DD-3562-4B83-8FCF-D331D29E8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CEC63CC-E1C9-965B-9F1A-9661DA22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8FBA6FBC-48D5-414A-B7A4-F80C08F1ED46}"/>
              </a:ext>
            </a:extLst>
          </p:cNvPr>
          <p:cNvSpPr/>
          <p:nvPr/>
        </p:nvSpPr>
        <p:spPr>
          <a:xfrm>
            <a:off x="1468651" y="3919166"/>
            <a:ext cx="6366501" cy="192582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BD2F83B-3AC7-44E8-959C-22921319C283}"/>
              </a:ext>
            </a:extLst>
          </p:cNvPr>
          <p:cNvSpPr txBox="1"/>
          <p:nvPr/>
        </p:nvSpPr>
        <p:spPr>
          <a:xfrm>
            <a:off x="7061752" y="1746407"/>
            <a:ext cx="493643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uživatel platný e-mail zadal, musíme ještě zkontrolovat, jestli již nemáme stejný e-mail v databázi registrovaný.</a:t>
            </a:r>
          </a:p>
          <a:p>
            <a:endParaRPr lang="cs-CZ" dirty="0"/>
          </a:p>
          <a:p>
            <a:r>
              <a:rPr lang="cs-CZ" dirty="0"/>
              <a:t>Všimněte si, že nám stačí zkontrolovat počet řádků výsledku.</a:t>
            </a:r>
          </a:p>
        </p:txBody>
      </p:sp>
    </p:spTree>
    <p:extLst>
      <p:ext uri="{BB962C8B-B14F-4D97-AF65-F5344CB8AC3E}">
        <p14:creationId xmlns:p14="http://schemas.microsoft.com/office/powerpoint/2010/main" val="3880516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8BBE-0955-D903-BA7C-F7E688F4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336968-F830-355A-7084-DFC50401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A1A5FE-2BAF-DED1-8EE9-812FDF768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511DAE8-3430-97FF-E395-CFB349479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3D8DD56A-E3C9-B546-9D7D-2B7417F8917E}"/>
              </a:ext>
            </a:extLst>
          </p:cNvPr>
          <p:cNvSpPr/>
          <p:nvPr/>
        </p:nvSpPr>
        <p:spPr>
          <a:xfrm>
            <a:off x="1432792" y="2474184"/>
            <a:ext cx="5263843" cy="175432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EFF58EB-D0AD-0084-07A8-C960934F5B3F}"/>
              </a:ext>
            </a:extLst>
          </p:cNvPr>
          <p:cNvSpPr txBox="1"/>
          <p:nvPr/>
        </p:nvSpPr>
        <p:spPr>
          <a:xfrm>
            <a:off x="6856525" y="2474184"/>
            <a:ext cx="4936435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Obdobn</a:t>
            </a:r>
            <a:r>
              <a:rPr lang="cs-CZ" dirty="0"/>
              <a:t>ě nastavíme kontrolu zadaného hesla a shodu obou jeho zadaných „verzí“.</a:t>
            </a:r>
          </a:p>
        </p:txBody>
      </p:sp>
    </p:spTree>
    <p:extLst>
      <p:ext uri="{BB962C8B-B14F-4D97-AF65-F5344CB8AC3E}">
        <p14:creationId xmlns:p14="http://schemas.microsoft.com/office/powerpoint/2010/main" val="179093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F6F2B7-BA38-47D4-AB2E-52D44E75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AFB7AE-6027-423C-9408-A66EA113F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91BC853-18DB-8031-FCE0-B07DC8CD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FF8B5C2-885A-4E6A-8805-7C7CF4F37923}"/>
              </a:ext>
            </a:extLst>
          </p:cNvPr>
          <p:cNvSpPr/>
          <p:nvPr/>
        </p:nvSpPr>
        <p:spPr>
          <a:xfrm>
            <a:off x="1470991" y="2909301"/>
            <a:ext cx="2661738" cy="73037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2027F39-AF09-41D2-89D0-A39E72286033}"/>
              </a:ext>
            </a:extLst>
          </p:cNvPr>
          <p:cNvSpPr txBox="1"/>
          <p:nvPr/>
        </p:nvSpPr>
        <p:spPr>
          <a:xfrm>
            <a:off x="4386080" y="2993340"/>
            <a:ext cx="4936435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nemáme v poli </a:t>
            </a:r>
            <a:r>
              <a:rPr lang="en-US" dirty="0"/>
              <a:t>$errors </a:t>
            </a:r>
            <a:r>
              <a:rPr lang="cs-CZ" dirty="0"/>
              <a:t>žádné chyby, potřebujeme uživatele zaregistrovat.</a:t>
            </a:r>
          </a:p>
        </p:txBody>
      </p:sp>
    </p:spTree>
    <p:extLst>
      <p:ext uri="{BB962C8B-B14F-4D97-AF65-F5344CB8AC3E}">
        <p14:creationId xmlns:p14="http://schemas.microsoft.com/office/powerpoint/2010/main" val="2029726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8EB3DD-F67A-4E4C-A634-E9144D02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6491FF-4F86-45AA-952E-6DBD18BF0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6ED3A0A-BC69-B2C1-A707-0CEE1DCD6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C4E51E6F-A50E-47C5-A47B-3778CFD27350}"/>
              </a:ext>
            </a:extLst>
          </p:cNvPr>
          <p:cNvSpPr/>
          <p:nvPr/>
        </p:nvSpPr>
        <p:spPr>
          <a:xfrm>
            <a:off x="1466315" y="2841061"/>
            <a:ext cx="5059991" cy="115719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EAB9457-DDD1-4691-A3A2-29FCA83DF55D}"/>
              </a:ext>
            </a:extLst>
          </p:cNvPr>
          <p:cNvSpPr txBox="1"/>
          <p:nvPr/>
        </p:nvSpPr>
        <p:spPr>
          <a:xfrm>
            <a:off x="6884504" y="4425904"/>
            <a:ext cx="4936435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 už víme z textových podkladů, heslo budeme ukládat </a:t>
            </a:r>
            <a:r>
              <a:rPr lang="cs-CZ" dirty="0" err="1"/>
              <a:t>zahashované</a:t>
            </a:r>
            <a:r>
              <a:rPr lang="cs-CZ" dirty="0"/>
              <a:t> pomocí funkce </a:t>
            </a:r>
            <a:r>
              <a:rPr lang="cs-CZ" dirty="0" err="1"/>
              <a:t>password_hash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242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C22079-C845-41D6-8FFE-C930BBF9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1354AD-C92B-439D-81CA-2BAE23A90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AEB9278-143A-E5BC-C63C-EC086F3C1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B6ECA5C5-E0FC-48BC-87C1-6DF72B282504}"/>
              </a:ext>
            </a:extLst>
          </p:cNvPr>
          <p:cNvSpPr/>
          <p:nvPr/>
        </p:nvSpPr>
        <p:spPr>
          <a:xfrm>
            <a:off x="1557799" y="3753989"/>
            <a:ext cx="8769542" cy="125210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9BCFEF0-794A-4DC9-BB6E-12257CCD1216}"/>
              </a:ext>
            </a:extLst>
          </p:cNvPr>
          <p:cNvSpPr txBox="1"/>
          <p:nvPr/>
        </p:nvSpPr>
        <p:spPr>
          <a:xfrm>
            <a:off x="5390906" y="1470529"/>
            <a:ext cx="4936435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všechny údaje zapíšeme do databáze.</a:t>
            </a:r>
          </a:p>
          <a:p>
            <a:endParaRPr lang="cs-CZ" dirty="0"/>
          </a:p>
          <a:p>
            <a:r>
              <a:rPr lang="cs-CZ" dirty="0"/>
              <a:t>V našem případě je uživatel rovnou aktivní, ale šlo by určitě např. donutit uživatele kliknout na nějaký odkaz poslaný mailem atp.</a:t>
            </a:r>
          </a:p>
        </p:txBody>
      </p:sp>
    </p:spTree>
    <p:extLst>
      <p:ext uri="{BB962C8B-B14F-4D97-AF65-F5344CB8AC3E}">
        <p14:creationId xmlns:p14="http://schemas.microsoft.com/office/powerpoint/2010/main" val="4100027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68ACDE-B965-4407-AD11-0C3F5059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590856-3DCE-4059-9F91-22BC00F67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D9C3F83-0C1A-5CD1-4804-64F66D3CC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C54F7F4E-7E32-418E-8F48-E5F248398810}"/>
              </a:ext>
            </a:extLst>
          </p:cNvPr>
          <p:cNvSpPr/>
          <p:nvPr/>
        </p:nvSpPr>
        <p:spPr>
          <a:xfrm>
            <a:off x="1583245" y="3917217"/>
            <a:ext cx="3185979" cy="76235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5DD17B8-B760-47D2-9716-D7FE6155396C}"/>
              </a:ext>
            </a:extLst>
          </p:cNvPr>
          <p:cNvSpPr txBox="1"/>
          <p:nvPr/>
        </p:nvSpPr>
        <p:spPr>
          <a:xfrm>
            <a:off x="6197047" y="4071443"/>
            <a:ext cx="493643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Jakmile máme uživatele zaregistrovaného, tak jej rovnou přihlásíme. Rozhodně uživatele </a:t>
            </a:r>
            <a:r>
              <a:rPr lang="cs-CZ" dirty="0" err="1"/>
              <a:t>zbytčně</a:t>
            </a:r>
            <a:r>
              <a:rPr lang="cs-CZ" dirty="0"/>
              <a:t> nenutíme vyplňovat e-mail a heslo znovu jen proto, aby se přihlásil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 err="1"/>
              <a:t>Pokud</a:t>
            </a:r>
            <a:r>
              <a:rPr lang="en-US" dirty="0"/>
              <a:t> b</a:t>
            </a:r>
            <a:r>
              <a:rPr lang="cs-CZ" dirty="0" err="1"/>
              <a:t>ychom</a:t>
            </a:r>
            <a:r>
              <a:rPr lang="cs-CZ" dirty="0"/>
              <a:t> tu měli nějaké ověření mailem, tak bychom uživatele také automaticky přihlásili, ale až po ověření kódu z potvrzovacího odkazu.</a:t>
            </a:r>
          </a:p>
        </p:txBody>
      </p:sp>
    </p:spTree>
    <p:extLst>
      <p:ext uri="{BB962C8B-B14F-4D97-AF65-F5344CB8AC3E}">
        <p14:creationId xmlns:p14="http://schemas.microsoft.com/office/powerpoint/2010/main" val="480785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00ECCC-40A8-4BED-ACA1-BA4728B7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B297F0C-7FEE-856E-5297-2B5A9937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05337DA6-91EE-4DD4-A582-4E24D20CF8F4}"/>
              </a:ext>
            </a:extLst>
          </p:cNvPr>
          <p:cNvSpPr/>
          <p:nvPr/>
        </p:nvSpPr>
        <p:spPr>
          <a:xfrm>
            <a:off x="1576229" y="4760289"/>
            <a:ext cx="2464905" cy="63919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5F33D0D-FD6A-4319-BA8D-929F5DBF6E61}"/>
              </a:ext>
            </a:extLst>
          </p:cNvPr>
          <p:cNvSpPr txBox="1"/>
          <p:nvPr/>
        </p:nvSpPr>
        <p:spPr>
          <a:xfrm>
            <a:off x="5877339" y="4747304"/>
            <a:ext cx="461838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Přihlášeného uživatele následně přesměrujeme na </a:t>
            </a:r>
            <a:r>
              <a:rPr lang="cs-CZ" dirty="0" err="1"/>
              <a:t>homepage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0515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7CA9BB-B7FC-4B32-A8A3-CB7417D6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9DB8B6-A3BB-46D9-B4A3-1BD0FEC96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A88327A0-7B80-520B-CB8F-DDCD10563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A364AB6-C5A2-435F-B28D-418FA6F24665}"/>
              </a:ext>
            </a:extLst>
          </p:cNvPr>
          <p:cNvSpPr txBox="1"/>
          <p:nvPr/>
        </p:nvSpPr>
        <p:spPr>
          <a:xfrm>
            <a:off x="6095999" y="5061069"/>
            <a:ext cx="461838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Zpracování formuláře a případnou registraci uživatele máme hotovou. Ještě se ale musíme vrátit zpátky k samotnému formuláři</a:t>
            </a:r>
          </a:p>
        </p:txBody>
      </p:sp>
    </p:spTree>
    <p:extLst>
      <p:ext uri="{BB962C8B-B14F-4D97-AF65-F5344CB8AC3E}">
        <p14:creationId xmlns:p14="http://schemas.microsoft.com/office/powerpoint/2010/main" val="3734476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E8CA0F-CB11-4D63-8B5C-5B29013B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B1BBEC-CC47-49E0-9226-A9CD4DD46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9F4DEC3-F18E-7CFF-583A-350DC852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F144BDD2-22AF-4E23-B459-98A6E5AD360D}"/>
              </a:ext>
            </a:extLst>
          </p:cNvPr>
          <p:cNvSpPr txBox="1"/>
          <p:nvPr/>
        </p:nvSpPr>
        <p:spPr>
          <a:xfrm>
            <a:off x="6735417" y="2873349"/>
            <a:ext cx="461838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se ve vyplnění daného pole vyskytla chyba (tj. máme ji poznamenanou v </a:t>
            </a:r>
            <a:r>
              <a:rPr lang="en-US" dirty="0"/>
              <a:t>$errors</a:t>
            </a:r>
            <a:r>
              <a:rPr lang="cs-CZ" dirty="0"/>
              <a:t>), tak ji vypíšeme uživateli.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5185C44-F523-4F93-9668-E4E5FDDC3459}"/>
              </a:ext>
            </a:extLst>
          </p:cNvPr>
          <p:cNvSpPr/>
          <p:nvPr/>
        </p:nvSpPr>
        <p:spPr>
          <a:xfrm>
            <a:off x="1643074" y="1783021"/>
            <a:ext cx="9710726" cy="95539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95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2CC958-505A-4175-8AE1-52961560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F07A56-351D-4647-8467-1891A8356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8EDD0B4D-385B-18F5-7E96-BE61CD816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969031F-13C7-4764-9398-063D78F2D1BE}"/>
              </a:ext>
            </a:extLst>
          </p:cNvPr>
          <p:cNvSpPr/>
          <p:nvPr/>
        </p:nvSpPr>
        <p:spPr>
          <a:xfrm>
            <a:off x="1710113" y="2533651"/>
            <a:ext cx="9782639" cy="82045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4DECF87-531F-4FCC-8E6D-7A43820161A8}"/>
              </a:ext>
            </a:extLst>
          </p:cNvPr>
          <p:cNvSpPr/>
          <p:nvPr/>
        </p:nvSpPr>
        <p:spPr>
          <a:xfrm>
            <a:off x="1710113" y="3974399"/>
            <a:ext cx="9782639" cy="82045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BC9A2B5C-E488-4807-ABB8-BB1E0767CEEB}"/>
              </a:ext>
            </a:extLst>
          </p:cNvPr>
          <p:cNvSpPr/>
          <p:nvPr/>
        </p:nvSpPr>
        <p:spPr>
          <a:xfrm>
            <a:off x="1683217" y="5356509"/>
            <a:ext cx="9782639" cy="82045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8BBE014C-9D88-4726-A38B-5C19C4208050}"/>
              </a:ext>
            </a:extLst>
          </p:cNvPr>
          <p:cNvSpPr txBox="1"/>
          <p:nvPr/>
        </p:nvSpPr>
        <p:spPr>
          <a:xfrm>
            <a:off x="7351643" y="1324768"/>
            <a:ext cx="461838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Obdobnou úpravu pak doplníme i pro další pole v registračním formuláři.</a:t>
            </a:r>
          </a:p>
        </p:txBody>
      </p:sp>
    </p:spTree>
    <p:extLst>
      <p:ext uri="{BB962C8B-B14F-4D97-AF65-F5344CB8AC3E}">
        <p14:creationId xmlns:p14="http://schemas.microsoft.com/office/powerpoint/2010/main" val="1775234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626C787-BB84-F6AE-104F-CBADA1039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67B20A0-A5D0-4482-9FDB-40E1201FC411}"/>
              </a:ext>
            </a:extLst>
          </p:cNvPr>
          <p:cNvSpPr txBox="1"/>
          <p:nvPr/>
        </p:nvSpPr>
        <p:spPr>
          <a:xfrm>
            <a:off x="5956267" y="623324"/>
            <a:ext cx="461838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 </a:t>
            </a:r>
            <a:r>
              <a:rPr lang="en-US" dirty="0" err="1"/>
              <a:t>dokon</a:t>
            </a:r>
            <a:r>
              <a:rPr lang="cs-CZ" dirty="0" err="1"/>
              <a:t>čení</a:t>
            </a:r>
            <a:r>
              <a:rPr lang="cs-CZ" dirty="0"/>
              <a:t> správného chování uživatele ještě vypíšeme do formuláře jméno a e-mail zadané uživatelem.</a:t>
            </a:r>
          </a:p>
          <a:p>
            <a:endParaRPr lang="cs-CZ" dirty="0"/>
          </a:p>
          <a:p>
            <a:r>
              <a:rPr lang="cs-CZ" dirty="0"/>
              <a:t>Pozor, rozhodně nevypisujeme heslo</a:t>
            </a:r>
            <a:r>
              <a:rPr lang="en-US" dirty="0"/>
              <a:t>!</a:t>
            </a:r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EE55C539-BE24-4B83-AF56-F4A15492E84E}"/>
              </a:ext>
            </a:extLst>
          </p:cNvPr>
          <p:cNvSpPr/>
          <p:nvPr/>
        </p:nvSpPr>
        <p:spPr>
          <a:xfrm>
            <a:off x="1701149" y="2313855"/>
            <a:ext cx="9447242" cy="47707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36717DF2-1B99-49C8-A8A8-42CCB57CC7DB}"/>
              </a:ext>
            </a:extLst>
          </p:cNvPr>
          <p:cNvSpPr/>
          <p:nvPr/>
        </p:nvSpPr>
        <p:spPr>
          <a:xfrm>
            <a:off x="1701149" y="3953076"/>
            <a:ext cx="9447242" cy="47707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22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DB575DDC-AAB6-FC44-578F-64A5A3F2A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605011E8-E77D-462F-88FE-D82727D31E0B}"/>
              </a:ext>
            </a:extLst>
          </p:cNvPr>
          <p:cNvSpPr/>
          <p:nvPr/>
        </p:nvSpPr>
        <p:spPr>
          <a:xfrm>
            <a:off x="1402270" y="4088568"/>
            <a:ext cx="2864540" cy="36933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DE53EBB-8B28-4B66-ABCA-AE1C7DE9C6E2}"/>
              </a:ext>
            </a:extLst>
          </p:cNvPr>
          <p:cNvSpPr txBox="1"/>
          <p:nvPr/>
        </p:nvSpPr>
        <p:spPr>
          <a:xfrm>
            <a:off x="4350175" y="4088568"/>
            <a:ext cx="417526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ještě do stránky doplníme nadpis.</a:t>
            </a:r>
          </a:p>
        </p:txBody>
      </p:sp>
    </p:spTree>
    <p:extLst>
      <p:ext uri="{BB962C8B-B14F-4D97-AF65-F5344CB8AC3E}">
        <p14:creationId xmlns:p14="http://schemas.microsoft.com/office/powerpoint/2010/main" val="3167279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9445B5-FABE-443E-BEB0-7D4E4FEA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5D55F9-12E6-49BC-BB66-C7A0D722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6CE8ABC-A49D-5D31-9A14-79B25F35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D964DDD-A2AB-4038-9FBB-38DE076FF12C}"/>
              </a:ext>
            </a:extLst>
          </p:cNvPr>
          <p:cNvSpPr txBox="1"/>
          <p:nvPr/>
        </p:nvSpPr>
        <p:spPr>
          <a:xfrm>
            <a:off x="7037878" y="3329358"/>
            <a:ext cx="501263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Dal</a:t>
            </a:r>
            <a:r>
              <a:rPr lang="cs-CZ" dirty="0" err="1"/>
              <a:t>ší</a:t>
            </a:r>
            <a:r>
              <a:rPr lang="cs-CZ" dirty="0"/>
              <a:t> stránkou, kterou budeme vytvářet, bude stránka pro přihlášení uživatele.</a:t>
            </a:r>
          </a:p>
          <a:p>
            <a:endParaRPr lang="cs-CZ" dirty="0"/>
          </a:p>
          <a:p>
            <a:r>
              <a:rPr lang="cs-CZ" dirty="0"/>
              <a:t>Začneme vlastně stejně, jako u </a:t>
            </a:r>
            <a:r>
              <a:rPr lang="cs-CZ" dirty="0" err="1"/>
              <a:t>registration.php</a:t>
            </a:r>
            <a:r>
              <a:rPr lang="cs-CZ" dirty="0"/>
              <a:t> – tj. načteme náš soubor pro DB a session a následně ověříme, jestli již není uživatel přihlášen.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3DFC299-3F5D-4E0B-A2D3-4E4B7A6AA249}"/>
              </a:ext>
            </a:extLst>
          </p:cNvPr>
          <p:cNvSpPr/>
          <p:nvPr/>
        </p:nvSpPr>
        <p:spPr>
          <a:xfrm>
            <a:off x="3385345" y="755697"/>
            <a:ext cx="5283525" cy="189262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69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18B88D-E437-4029-9332-DF99925D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9D7160-A08E-4A88-9C5D-8531BE723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C17457B-BEF0-B4E5-FCFD-C02A343F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60559C0-4C1C-4513-A990-DDB5904A7A26}"/>
              </a:ext>
            </a:extLst>
          </p:cNvPr>
          <p:cNvSpPr txBox="1"/>
          <p:nvPr/>
        </p:nvSpPr>
        <p:spPr>
          <a:xfrm>
            <a:off x="7006696" y="3493097"/>
            <a:ext cx="4031975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si vytvoříme základní strukturu stránky a načteme hlavičku a patičku.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7A7CB9C-2424-4D36-8256-34E0EBD4EB3C}"/>
              </a:ext>
            </a:extLst>
          </p:cNvPr>
          <p:cNvSpPr/>
          <p:nvPr/>
        </p:nvSpPr>
        <p:spPr>
          <a:xfrm>
            <a:off x="3362741" y="2604502"/>
            <a:ext cx="2894624" cy="272949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59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55EC36-B391-4D65-B012-B71E8984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7C0C11-0EBE-4868-AFE5-7B291036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E51A640-EFE0-D22C-27A7-4B9A7A7A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3039632-FFE2-484F-8784-C55A0EEA051A}"/>
              </a:ext>
            </a:extLst>
          </p:cNvPr>
          <p:cNvSpPr txBox="1"/>
          <p:nvPr/>
        </p:nvSpPr>
        <p:spPr>
          <a:xfrm>
            <a:off x="6433929" y="952024"/>
            <a:ext cx="503251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Vytvoříme si HTML základ přihlašovacího formuláře. Na server ho budeme opět posílat metodou POST.</a:t>
            </a:r>
          </a:p>
          <a:p>
            <a:endParaRPr lang="cs-CZ" dirty="0"/>
          </a:p>
          <a:p>
            <a:r>
              <a:rPr lang="cs-CZ" dirty="0"/>
              <a:t>Nezapomeneme na odkazy pro přepnutí se na registraci a pro návrat na </a:t>
            </a:r>
            <a:r>
              <a:rPr lang="cs-CZ" dirty="0" err="1"/>
              <a:t>homepage</a:t>
            </a:r>
            <a:r>
              <a:rPr lang="cs-CZ" dirty="0"/>
              <a:t> bez přihlášení.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DF808EF-756F-423C-9CA1-5E05C60D42B2}"/>
              </a:ext>
            </a:extLst>
          </p:cNvPr>
          <p:cNvSpPr/>
          <p:nvPr/>
        </p:nvSpPr>
        <p:spPr>
          <a:xfrm>
            <a:off x="1326193" y="2884380"/>
            <a:ext cx="6661360" cy="274545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85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50E7E-57A6-4E4E-8913-F675A994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3142C9-3FC0-4653-9EC5-F4FA00FD9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62B727F-F12C-4A8F-A74E-482A57BA6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FFE07B2-EC32-4B05-9815-D72492050623}"/>
              </a:ext>
            </a:extLst>
          </p:cNvPr>
          <p:cNvSpPr txBox="1"/>
          <p:nvPr/>
        </p:nvSpPr>
        <p:spPr>
          <a:xfrm>
            <a:off x="5481525" y="2124944"/>
            <a:ext cx="5012637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Formulář máme připravený, jdeme tedy na jeho zpracování.</a:t>
            </a:r>
          </a:p>
          <a:p>
            <a:endParaRPr lang="cs-CZ" dirty="0"/>
          </a:p>
          <a:p>
            <a:r>
              <a:rPr lang="cs-CZ" dirty="0"/>
              <a:t>Přesuneme se do skriptu před odesláním hlavičky stránek a nejprve zkontrolujeme, jestli nám přišla nějaká data metodou POST.</a:t>
            </a:r>
          </a:p>
          <a:p>
            <a:endParaRPr lang="cs-CZ" dirty="0"/>
          </a:p>
          <a:p>
            <a:r>
              <a:rPr lang="cs-CZ" dirty="0"/>
              <a:t>POZOR, u přihlašovacího formuláře nebudeme uživateli vypisovat konkrétní chyby, ale jen obecnou hlášku o neplatné kombinaci e-mailu a hesla.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468B6FF-7EFA-47AC-9AC5-C48C6F387043}"/>
              </a:ext>
            </a:extLst>
          </p:cNvPr>
          <p:cNvSpPr/>
          <p:nvPr/>
        </p:nvSpPr>
        <p:spPr>
          <a:xfrm>
            <a:off x="1236546" y="2672849"/>
            <a:ext cx="2507972" cy="101164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83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C7D54B-AA06-44BD-8AE0-9C1C592A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29F631-DCA2-4688-8CF5-6953E657D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02FDC34C-50D5-4DC8-AAE8-A16E3DD62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3005E0A-D6FF-43C4-BDA3-2C6600C4FC00}"/>
              </a:ext>
            </a:extLst>
          </p:cNvPr>
          <p:cNvSpPr txBox="1"/>
          <p:nvPr/>
        </p:nvSpPr>
        <p:spPr>
          <a:xfrm>
            <a:off x="6849036" y="4557607"/>
            <a:ext cx="461838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rámci ověření uživatele se nejprve pokusíme vybrat z databáze údaje o uživateli se zadaným e-mailem.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47E4624-E441-4CFE-98E3-1604542773EE}"/>
              </a:ext>
            </a:extLst>
          </p:cNvPr>
          <p:cNvSpPr/>
          <p:nvPr/>
        </p:nvSpPr>
        <p:spPr>
          <a:xfrm>
            <a:off x="1308654" y="2935147"/>
            <a:ext cx="6365134" cy="148752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107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19476F-715D-45A0-B0D2-7D4C6CCD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C452A6-8018-44E5-B61E-E0E79EF81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300AC02-5BF2-7557-F5B6-E1BB638D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B3AE8D4-6588-4564-8BDD-438EC4586390}"/>
              </a:ext>
            </a:extLst>
          </p:cNvPr>
          <p:cNvSpPr txBox="1"/>
          <p:nvPr/>
        </p:nvSpPr>
        <p:spPr>
          <a:xfrm>
            <a:off x="5665693" y="4338198"/>
            <a:ext cx="461838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se povedlo uživatele načíst z databáze, budeme ověřovat heslo. Pokud ne, tak je formulář vyplněn chybně.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1E8FA86-EF85-42F4-8882-A293B9F7B32E}"/>
              </a:ext>
            </a:extLst>
          </p:cNvPr>
          <p:cNvSpPr/>
          <p:nvPr/>
        </p:nvSpPr>
        <p:spPr>
          <a:xfrm>
            <a:off x="1477618" y="4338198"/>
            <a:ext cx="4039586" cy="103984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51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04B67A-0E3A-4D71-932A-EB2CCCCA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D57F07-E543-451E-B58E-D9A14074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7A0C6CF4-96EE-DB9B-969B-0FCBD316A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97CD9C5-0845-43A6-96FE-9B6FA6AE2304}"/>
              </a:ext>
            </a:extLst>
          </p:cNvPr>
          <p:cNvSpPr txBox="1"/>
          <p:nvPr/>
        </p:nvSpPr>
        <p:spPr>
          <a:xfrm>
            <a:off x="6825846" y="4362362"/>
            <a:ext cx="461838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ověření hesla použijeme funkci </a:t>
            </a:r>
            <a:r>
              <a:rPr lang="cs-CZ" dirty="0" err="1"/>
              <a:t>password_verify</a:t>
            </a:r>
            <a:r>
              <a:rPr lang="cs-CZ" dirty="0"/>
              <a:t>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32C1C2A6-DE0A-4FA9-A696-1880D10A1638}"/>
              </a:ext>
            </a:extLst>
          </p:cNvPr>
          <p:cNvSpPr/>
          <p:nvPr/>
        </p:nvSpPr>
        <p:spPr>
          <a:xfrm>
            <a:off x="1597081" y="4362362"/>
            <a:ext cx="4498919" cy="129163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25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7EC6A1-866D-414C-A650-7875C2FB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38621F-8DD6-4B0E-99A7-09DF5EAE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21152EC-8783-49EC-0835-FC4762A0F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CBBABAE-DED9-49D6-A79B-FF95C1E9F6D6}"/>
              </a:ext>
            </a:extLst>
          </p:cNvPr>
          <p:cNvSpPr txBox="1"/>
          <p:nvPr/>
        </p:nvSpPr>
        <p:spPr>
          <a:xfrm>
            <a:off x="7573617" y="0"/>
            <a:ext cx="4618383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bylo heslo vyhodnoceno jako správné, tak uložíme do session informace o uživateli a přesměrujeme jej na </a:t>
            </a:r>
            <a:r>
              <a:rPr lang="cs-CZ" dirty="0" err="1"/>
              <a:t>homepage</a:t>
            </a:r>
            <a:r>
              <a:rPr lang="cs-CZ" dirty="0"/>
              <a:t>.</a:t>
            </a:r>
            <a:endParaRPr lang="en-US" dirty="0"/>
          </a:p>
          <a:p>
            <a:r>
              <a:rPr lang="cs-CZ" dirty="0"/>
              <a:t>Zároveň doplníme také </a:t>
            </a:r>
            <a:r>
              <a:rPr lang="cs-CZ" dirty="0" err="1"/>
              <a:t>přeukládací</a:t>
            </a:r>
            <a:r>
              <a:rPr lang="cs-CZ" dirty="0"/>
              <a:t> smyčku, pokud by bylo nutné změnit hashovací funkci.</a:t>
            </a:r>
          </a:p>
          <a:p>
            <a:endParaRPr lang="cs-CZ" dirty="0"/>
          </a:p>
          <a:p>
            <a:r>
              <a:rPr lang="cs-CZ" dirty="0"/>
              <a:t>Pokud heslo správné nebylo, poznamenáme si chybu.</a:t>
            </a:r>
          </a:p>
          <a:p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00E3605-218D-40B3-B75D-EF67B76A93A4}"/>
              </a:ext>
            </a:extLst>
          </p:cNvPr>
          <p:cNvSpPr/>
          <p:nvPr/>
        </p:nvSpPr>
        <p:spPr>
          <a:xfrm>
            <a:off x="1794302" y="2772734"/>
            <a:ext cx="6865604" cy="311707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69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CFFB5E-884E-4A8A-9D34-C8D428FC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6D852B6-ACD0-71E9-961D-9FEAAEF1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AB403F-4BFF-4477-AA61-D51F9886C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BF5FC637-93BF-4E90-876D-378485F0AC37}"/>
              </a:ext>
            </a:extLst>
          </p:cNvPr>
          <p:cNvSpPr/>
          <p:nvPr/>
        </p:nvSpPr>
        <p:spPr>
          <a:xfrm>
            <a:off x="6995002" y="3087906"/>
            <a:ext cx="2766394" cy="2748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46D8E05-B658-4F9A-BC14-6298289C4CCB}"/>
              </a:ext>
            </a:extLst>
          </p:cNvPr>
          <p:cNvSpPr/>
          <p:nvPr/>
        </p:nvSpPr>
        <p:spPr>
          <a:xfrm>
            <a:off x="1677959" y="3362781"/>
            <a:ext cx="8083437" cy="69823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16BE2D32-09A9-434A-BFCC-5ACF43E403AA}"/>
              </a:ext>
            </a:extLst>
          </p:cNvPr>
          <p:cNvSpPr txBox="1"/>
          <p:nvPr/>
        </p:nvSpPr>
        <p:spPr>
          <a:xfrm>
            <a:off x="6735417" y="1455129"/>
            <a:ext cx="461838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uživatel nezadal správnou kombinaci e-mailu a hesla, zobrazíme ve formuláři obecnou chybu (abychom případnému útočníkovi nenapovídali, zda uhádl alespoň e-mail).</a:t>
            </a:r>
          </a:p>
        </p:txBody>
      </p:sp>
    </p:spTree>
    <p:extLst>
      <p:ext uri="{BB962C8B-B14F-4D97-AF65-F5344CB8AC3E}">
        <p14:creationId xmlns:p14="http://schemas.microsoft.com/office/powerpoint/2010/main" val="776299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8B4166F-F984-B1C3-4903-9F38F72EB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918AD97-F43A-4F70-9504-01ADA9F39540}"/>
              </a:ext>
            </a:extLst>
          </p:cNvPr>
          <p:cNvSpPr/>
          <p:nvPr/>
        </p:nvSpPr>
        <p:spPr>
          <a:xfrm>
            <a:off x="2091438" y="3291562"/>
            <a:ext cx="5125150" cy="33914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00EC7700-72A1-4A32-9300-5C0E3AB163A9}"/>
              </a:ext>
            </a:extLst>
          </p:cNvPr>
          <p:cNvSpPr txBox="1"/>
          <p:nvPr/>
        </p:nvSpPr>
        <p:spPr>
          <a:xfrm>
            <a:off x="7493276" y="3408224"/>
            <a:ext cx="461838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Nakonec</a:t>
            </a:r>
            <a:r>
              <a:rPr lang="en-US" dirty="0"/>
              <a:t> do </a:t>
            </a:r>
            <a:r>
              <a:rPr lang="en-US" dirty="0" err="1"/>
              <a:t>formul</a:t>
            </a:r>
            <a:r>
              <a:rPr lang="cs-CZ" dirty="0" err="1"/>
              <a:t>áře</a:t>
            </a:r>
            <a:r>
              <a:rPr lang="cs-CZ" dirty="0"/>
              <a:t> předvyplníme e-mail zadaný uživatelem.</a:t>
            </a:r>
            <a:endParaRPr lang="en-US" dirty="0"/>
          </a:p>
          <a:p>
            <a:endParaRPr lang="en-US" dirty="0"/>
          </a:p>
          <a:p>
            <a:r>
              <a:rPr lang="cs-CZ" dirty="0"/>
              <a:t>Heslo opět nevyplňujeme</a:t>
            </a:r>
            <a:r>
              <a:rPr lang="en-US" dirty="0"/>
              <a:t>!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9701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C715E146-F14D-623E-8E2A-947E8584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E9679893-06DF-481E-9354-71E54ADA8EB2}"/>
              </a:ext>
            </a:extLst>
          </p:cNvPr>
          <p:cNvSpPr/>
          <p:nvPr/>
        </p:nvSpPr>
        <p:spPr>
          <a:xfrm>
            <a:off x="1315351" y="2960051"/>
            <a:ext cx="2664978" cy="106666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5CF1089-22B4-4F93-9A1D-D1C95C01682C}"/>
              </a:ext>
            </a:extLst>
          </p:cNvPr>
          <p:cNvSpPr txBox="1"/>
          <p:nvPr/>
        </p:nvSpPr>
        <p:spPr>
          <a:xfrm>
            <a:off x="4109685" y="3170216"/>
            <a:ext cx="594939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Abychom měli aplikaci uživatelsky přívětivou, ještě doplníme do stránky pro přihlášení odpovídající část </a:t>
            </a:r>
            <a:r>
              <a:rPr lang="cs-CZ" dirty="0" err="1"/>
              <a:t>title</a:t>
            </a:r>
            <a:r>
              <a:rPr lang="cs-CZ" dirty="0"/>
              <a:t> a nadpis.</a:t>
            </a:r>
          </a:p>
        </p:txBody>
      </p:sp>
    </p:spTree>
    <p:extLst>
      <p:ext uri="{BB962C8B-B14F-4D97-AF65-F5344CB8AC3E}">
        <p14:creationId xmlns:p14="http://schemas.microsoft.com/office/powerpoint/2010/main" val="25525129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B5DCD2-E3C8-4009-BD3A-49BA7D33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D57C58-66E7-45C7-A95E-FCDBDBC3E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B71B683-697D-D208-5EB8-05B9F3DD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C9352F2-FB3F-4032-9177-92E9CE6022C6}"/>
              </a:ext>
            </a:extLst>
          </p:cNvPr>
          <p:cNvSpPr txBox="1"/>
          <p:nvPr/>
        </p:nvSpPr>
        <p:spPr>
          <a:xfrm>
            <a:off x="6202017" y="3830052"/>
            <a:ext cx="515178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posledn</a:t>
            </a:r>
            <a:r>
              <a:rPr lang="cs-CZ" dirty="0"/>
              <a:t>í základní stránku pro práci s uživateli připravíme soubor </a:t>
            </a:r>
            <a:r>
              <a:rPr lang="cs-CZ" dirty="0" err="1"/>
              <a:t>logout.php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Pokud je uživatel přihlášen, smažeme ze session údaje o uživateli a přesměrujeme jej na </a:t>
            </a:r>
            <a:r>
              <a:rPr lang="cs-CZ" dirty="0" err="1"/>
              <a:t>homepage</a:t>
            </a:r>
            <a:r>
              <a:rPr lang="cs-CZ" dirty="0"/>
              <a:t>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280960D-9E81-4481-948E-733D6A2790C9}"/>
              </a:ext>
            </a:extLst>
          </p:cNvPr>
          <p:cNvSpPr/>
          <p:nvPr/>
        </p:nvSpPr>
        <p:spPr>
          <a:xfrm>
            <a:off x="3398594" y="729559"/>
            <a:ext cx="4418630" cy="254255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92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AAAA59-6ED1-481A-B96C-1DC8D703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F7130E-5E9F-417D-BFFF-1F931E878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4FA846E-D88C-F831-E3C7-8659BFE62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90A4B286-EB44-471C-92AB-FA6F96779EA3}"/>
              </a:ext>
            </a:extLst>
          </p:cNvPr>
          <p:cNvSpPr txBox="1"/>
          <p:nvPr/>
        </p:nvSpPr>
        <p:spPr>
          <a:xfrm>
            <a:off x="6294296" y="3666870"/>
            <a:ext cx="515178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 nám uživatelé v aplikaci také k něčemu byli, je potřeba je integrovat do zbytku aplikace.</a:t>
            </a:r>
          </a:p>
          <a:p>
            <a:endParaRPr lang="cs-CZ" dirty="0"/>
          </a:p>
          <a:p>
            <a:r>
              <a:rPr lang="cs-CZ" dirty="0"/>
              <a:t>Nejprve si otevřeme soubor </a:t>
            </a:r>
            <a:r>
              <a:rPr lang="cs-CZ" dirty="0" err="1"/>
              <a:t>header.php</a:t>
            </a:r>
            <a:r>
              <a:rPr lang="cs-CZ" dirty="0"/>
              <a:t>, protože budeme chtít v hlavičce vypisovat údaje o přihlášeném uživateli.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85EF3662-BF1C-4143-B713-9EE82EFF2198}"/>
              </a:ext>
            </a:extLst>
          </p:cNvPr>
          <p:cNvSpPr/>
          <p:nvPr/>
        </p:nvSpPr>
        <p:spPr>
          <a:xfrm>
            <a:off x="3978477" y="2924663"/>
            <a:ext cx="2315819" cy="30107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32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AFF695-CA8B-4108-92AB-DAE714E2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FD2AAB-1662-4F88-9B4E-3BC3D995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04F568F-05B0-FB4A-EB42-153EF74DD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5DC9538-8B00-4B13-9C19-0F5CE70AAC2C}"/>
              </a:ext>
            </a:extLst>
          </p:cNvPr>
          <p:cNvSpPr/>
          <p:nvPr/>
        </p:nvSpPr>
        <p:spPr>
          <a:xfrm>
            <a:off x="3817405" y="3132796"/>
            <a:ext cx="5470030" cy="225499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4403934-65F0-45B5-B22C-7E57ACC34C6E}"/>
              </a:ext>
            </a:extLst>
          </p:cNvPr>
          <p:cNvSpPr txBox="1"/>
          <p:nvPr/>
        </p:nvSpPr>
        <p:spPr>
          <a:xfrm>
            <a:off x="8619710" y="255964"/>
            <a:ext cx="3162299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je uživatel přihlášen, vypíšeme do hlavičky jeho jméno a odkaz na odhlášení.</a:t>
            </a:r>
          </a:p>
          <a:p>
            <a:endParaRPr lang="cs-CZ" dirty="0"/>
          </a:p>
          <a:p>
            <a:r>
              <a:rPr lang="cs-CZ" dirty="0"/>
              <a:t>Pokud uživatel přihlášen není, zobrazíme mu odkaz na přihlášení.</a:t>
            </a:r>
          </a:p>
          <a:p>
            <a:endParaRPr lang="cs-CZ" dirty="0"/>
          </a:p>
          <a:p>
            <a:r>
              <a:rPr lang="cs-CZ" dirty="0"/>
              <a:t>Pozor na to, že ve jméně uživatele se mohou vyskytnout speciální znaky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77936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BF990E-EACE-446D-809B-E252B081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67F339-200F-40E7-808B-57EB4B5AB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49669194-9B84-6E28-6003-5BF409B11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2D66F4E6-F0EC-45FA-A46A-F99582EE5839}"/>
              </a:ext>
            </a:extLst>
          </p:cNvPr>
          <p:cNvSpPr/>
          <p:nvPr/>
        </p:nvSpPr>
        <p:spPr>
          <a:xfrm>
            <a:off x="4532633" y="3970890"/>
            <a:ext cx="6574638" cy="72514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B2CE0B7-3FC8-416A-B8EE-91649AD871B5}"/>
              </a:ext>
            </a:extLst>
          </p:cNvPr>
          <p:cNvSpPr txBox="1"/>
          <p:nvPr/>
        </p:nvSpPr>
        <p:spPr>
          <a:xfrm>
            <a:off x="7610304" y="458635"/>
            <a:ext cx="4212535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 hlediska oprávnění máme v zadání, že příspěvky může upravovat libovolný přihlášený uživatel.</a:t>
            </a:r>
          </a:p>
          <a:p>
            <a:endParaRPr lang="cs-CZ" dirty="0"/>
          </a:p>
          <a:p>
            <a:r>
              <a:rPr lang="cs-CZ" dirty="0"/>
              <a:t>Odkaz na editaci příspěvku tedy zobrazíme jen v situaci, kdy máme přihlášeného uživatele.</a:t>
            </a:r>
          </a:p>
        </p:txBody>
      </p:sp>
    </p:spTree>
    <p:extLst>
      <p:ext uri="{BB962C8B-B14F-4D97-AF65-F5344CB8AC3E}">
        <p14:creationId xmlns:p14="http://schemas.microsoft.com/office/powerpoint/2010/main" val="2181392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F22970FC-E923-C502-D3E6-AAD46226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4CEADCC-C02D-4AC0-BCBF-F27B4BF2796F}"/>
              </a:ext>
            </a:extLst>
          </p:cNvPr>
          <p:cNvSpPr/>
          <p:nvPr/>
        </p:nvSpPr>
        <p:spPr>
          <a:xfrm>
            <a:off x="3424517" y="3989295"/>
            <a:ext cx="8508077" cy="115644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8C9145A-D44E-4919-8900-5BB24F82F330}"/>
              </a:ext>
            </a:extLst>
          </p:cNvPr>
          <p:cNvSpPr txBox="1"/>
          <p:nvPr/>
        </p:nvSpPr>
        <p:spPr>
          <a:xfrm>
            <a:off x="7537904" y="2277036"/>
            <a:ext cx="3580572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Stejnou kontrolou podmíníme také zobrazení odkazu na přidání nového příspěvku.</a:t>
            </a:r>
          </a:p>
        </p:txBody>
      </p:sp>
    </p:spTree>
    <p:extLst>
      <p:ext uri="{BB962C8B-B14F-4D97-AF65-F5344CB8AC3E}">
        <p14:creationId xmlns:p14="http://schemas.microsoft.com/office/powerpoint/2010/main" val="3092155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AFBA51-84EC-452E-A629-90C1F4C9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6E13C1-48DA-4F5F-90BF-045F95883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457C33F-175C-4B00-A04F-048C231A8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1256A4D-2367-447B-BF07-2298C9AD19A7}"/>
              </a:ext>
            </a:extLst>
          </p:cNvPr>
          <p:cNvSpPr/>
          <p:nvPr/>
        </p:nvSpPr>
        <p:spPr>
          <a:xfrm>
            <a:off x="3045928" y="1578545"/>
            <a:ext cx="5674001" cy="107188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78C2663-653F-4B7B-B328-F306BDBEFB50}"/>
              </a:ext>
            </a:extLst>
          </p:cNvPr>
          <p:cNvSpPr txBox="1"/>
          <p:nvPr/>
        </p:nvSpPr>
        <p:spPr>
          <a:xfrm>
            <a:off x="6096000" y="3429000"/>
            <a:ext cx="5949397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PO</a:t>
            </a:r>
            <a:r>
              <a:rPr lang="cs-CZ" dirty="0"/>
              <a:t>ZOR: Pouhé nezobrazení odkazu ale nestačí</a:t>
            </a:r>
            <a:r>
              <a:rPr lang="en-US" dirty="0"/>
              <a:t>!</a:t>
            </a:r>
            <a:r>
              <a:rPr lang="cs-CZ" dirty="0"/>
              <a:t> Rozhodně to nezabrání uživateli v tom, aby danou URL pro úpravu vyplnil ručně, či ji měl např. uloženou v záložkách a ani si neuvědomil, že není přihlášený.</a:t>
            </a:r>
          </a:p>
          <a:p>
            <a:endParaRPr lang="cs-CZ" dirty="0"/>
          </a:p>
          <a:p>
            <a:r>
              <a:rPr lang="cs-CZ" dirty="0"/>
              <a:t>Přejdeme tedy do souboru </a:t>
            </a:r>
            <a:r>
              <a:rPr lang="cs-CZ" dirty="0" err="1"/>
              <a:t>edit.php</a:t>
            </a:r>
            <a:r>
              <a:rPr lang="cs-CZ" dirty="0"/>
              <a:t> a doplníme na jeho začátek kontrolu, jestli je uživatel přihlášen.</a:t>
            </a:r>
          </a:p>
        </p:txBody>
      </p:sp>
    </p:spTree>
    <p:extLst>
      <p:ext uri="{BB962C8B-B14F-4D97-AF65-F5344CB8AC3E}">
        <p14:creationId xmlns:p14="http://schemas.microsoft.com/office/powerpoint/2010/main" val="338842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0249AC-AF74-4346-A5B0-37A698073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06AEF4-5C07-4000-8A77-7970E608C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B321E22C-A467-9D64-04C2-1710E290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E2F9634-2F95-49E9-AC86-636FCCD3082D}"/>
              </a:ext>
            </a:extLst>
          </p:cNvPr>
          <p:cNvSpPr/>
          <p:nvPr/>
        </p:nvSpPr>
        <p:spPr>
          <a:xfrm>
            <a:off x="1829846" y="2280468"/>
            <a:ext cx="9304319" cy="151633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A5609D8-02EE-4BC4-9046-A4BD3BAC8EB8}"/>
              </a:ext>
            </a:extLst>
          </p:cNvPr>
          <p:cNvSpPr txBox="1"/>
          <p:nvPr/>
        </p:nvSpPr>
        <p:spPr>
          <a:xfrm>
            <a:off x="5983198" y="4016178"/>
            <a:ext cx="594939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se přesuneme k ukládání příspěvků do databáze a upravíme SQL dotaz pro UPDATE tak, aby bylo aktualizováno </a:t>
            </a:r>
            <a:r>
              <a:rPr lang="cs-CZ" dirty="0" err="1"/>
              <a:t>user_id</a:t>
            </a:r>
            <a:r>
              <a:rPr lang="cs-CZ" dirty="0"/>
              <a:t> u příspěvku na ID aktuálně přihlášeného uživatele.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2665E85-97F2-4B0C-8F38-14ABA00FB8E4}"/>
              </a:ext>
            </a:extLst>
          </p:cNvPr>
          <p:cNvSpPr txBox="1"/>
          <p:nvPr/>
        </p:nvSpPr>
        <p:spPr>
          <a:xfrm>
            <a:off x="5983198" y="5060535"/>
            <a:ext cx="594939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jste prezentaci dočetli až sem, vložte do příslušného zadání textový soubor s žádostí o 1 bod za aktivitu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585155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6A1280-5343-4D1F-9769-86F55480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14470CB2-839B-74DD-71AB-823641C9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DA4BB8C-244E-4DB6-84CC-0FF50EC6C4D3}"/>
              </a:ext>
            </a:extLst>
          </p:cNvPr>
          <p:cNvSpPr txBox="1"/>
          <p:nvPr/>
        </p:nvSpPr>
        <p:spPr>
          <a:xfrm>
            <a:off x="5823503" y="3220928"/>
            <a:ext cx="594939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Poslední úpravou v editaci příspěvku bude vyplnění ID aktuálního uživatele do </a:t>
            </a:r>
            <a:r>
              <a:rPr lang="cs-CZ" dirty="0" err="1"/>
              <a:t>INSERTu</a:t>
            </a:r>
            <a:r>
              <a:rPr lang="cs-CZ" dirty="0"/>
              <a:t>. 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37C4B76-AE7A-413D-ACAC-50EB7CA8E5E9}"/>
              </a:ext>
            </a:extLst>
          </p:cNvPr>
          <p:cNvSpPr/>
          <p:nvPr/>
        </p:nvSpPr>
        <p:spPr>
          <a:xfrm>
            <a:off x="1757741" y="4106579"/>
            <a:ext cx="8641318" cy="151633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745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AA795B-94A2-4198-B11E-04C52A0B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</a:t>
            </a:r>
            <a:r>
              <a:rPr lang="cs-CZ" dirty="0" err="1"/>
              <a:t>áme</a:t>
            </a:r>
            <a:r>
              <a:rPr lang="cs-CZ" dirty="0"/>
              <a:t> hotovo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AFD849-0ABF-4102-A939-6E3F91644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Zkuste aplikaci nahrát na server a vyzkoušet ji. Doporučuji začít registrací nového uživatele.</a:t>
            </a:r>
          </a:p>
          <a:p>
            <a:endParaRPr lang="cs-CZ" dirty="0"/>
          </a:p>
          <a:p>
            <a:r>
              <a:rPr lang="cs-CZ" dirty="0"/>
              <a:t>Pár podnětů na zamyšlení:</a:t>
            </a:r>
          </a:p>
          <a:p>
            <a:pPr lvl="1"/>
            <a:r>
              <a:rPr lang="cs-CZ" dirty="0"/>
              <a:t>Zvládli byste aplikaci upravit tak, aby uživatel mohl upravovat jen svoje příspěvky?</a:t>
            </a:r>
          </a:p>
          <a:p>
            <a:pPr lvl="1"/>
            <a:r>
              <a:rPr lang="cs-CZ" dirty="0"/>
              <a:t>Zvládli byste do aplikace dodělat možnost mazání </a:t>
            </a:r>
            <a:r>
              <a:rPr lang="cs-CZ"/>
              <a:t>příspěvků?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6549486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1529</Words>
  <Application>Microsoft Office PowerPoint</Application>
  <PresentationFormat>Širokoúhlá obrazovka</PresentationFormat>
  <Paragraphs>116</Paragraphs>
  <Slides>54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Motiv Office</vt:lpstr>
      <vt:lpstr>Uživatelé v aplikaci Nástěnka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 máme hotovo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Uživatelé v aplikaci Nástěnka</dc:title>
  <dc:creator>Stanislav Vojíř</dc:creator>
  <cp:lastModifiedBy>Stanislav Vojíř</cp:lastModifiedBy>
  <cp:revision>73</cp:revision>
  <dcterms:created xsi:type="dcterms:W3CDTF">2020-04-08T00:49:16Z</dcterms:created>
  <dcterms:modified xsi:type="dcterms:W3CDTF">2026-04-28T00:20:33Z</dcterms:modified>
</cp:coreProperties>
</file>