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271" r:id="rId18"/>
    <p:sldId id="293" r:id="rId19"/>
    <p:sldId id="294" r:id="rId20"/>
    <p:sldId id="295" r:id="rId21"/>
    <p:sldId id="303" r:id="rId22"/>
    <p:sldId id="304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322" r:id="rId37"/>
    <p:sldId id="285" r:id="rId38"/>
    <p:sldId id="286" r:id="rId39"/>
    <p:sldId id="287" r:id="rId40"/>
    <p:sldId id="288" r:id="rId41"/>
    <p:sldId id="292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5" r:id="rId5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9F2BFE-3C30-424F-8C48-157B02782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FD1DB93-497E-4120-A4D2-025E326BA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15B2D5C-0F1D-4A6E-B0A7-D53D31E7D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0A0AFC8-33A0-4203-87F9-E441ABBF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B671898-EC58-4EDD-9C11-CA1D58EBF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39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DE687F-76E4-4672-80FD-576BE701D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9739DBE-E3F8-4C57-A9DD-167083AD3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5C1E153-A037-45A0-AC6C-BC1017E79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B721930-61F5-4F5C-827C-00E668AC0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4F52C64-BB37-4AB2-9E01-9F5973FEF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1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5C6CBF-901D-4394-82D9-5A38C31D8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693415B-1B30-4798-99AC-01080B025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375B2FC-D64A-447C-9A67-2DEC2B395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985C76D-BB5E-4172-A027-2679563BD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5C2289A-C890-4858-939B-1A97D2C43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28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E1C245-616F-4C6B-8304-95E9FF3ED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13751ED-01A4-49F9-B8F2-E9C20AE0E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A39B222-508B-45E2-83AB-09FE1B442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F09F949-85E2-425C-B086-A415F4AB2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CF17173-2A5F-41ED-A2A4-A5BE5AEE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22A6F95-F729-48F0-A712-139F1755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9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D14244-CC31-4EF2-9839-01420BDF2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63780AC-A350-467D-9544-A4A095569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9859B41-A62F-4B06-BC25-69CFDDC3A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D381771-8363-4D82-9606-9CBF8E4F5E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2B2090D-67A8-458C-B293-8A6F15E83E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D73BBEEF-DC90-4F16-9624-A36301FE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65007E15-A439-4388-B02D-9CB8456BE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AD58E72D-3BDB-4B7F-A42B-3FB6AC491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07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34C3BC-3CA6-4F15-AA8B-96FF8B38C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25DCE4AE-4489-4DB0-BD11-9DE154720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C80E1CA-E7C4-4B82-8F3E-8086BBF2E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35436FE-84FE-423A-9A71-91FD8234F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34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E97AECC6-2385-4004-9B80-4EBA0EABE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BE9ACD5-E426-4300-95F2-F8B38CDE1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B9374F4-E98B-438A-AA43-62DD6AAC0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80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FC9850-865A-4042-897E-6C38ADA01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1C1021-FC84-482D-8593-4DBF4802F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8DA8147-2BB7-46D1-B6C5-A662AC353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5E28A98-5742-41E4-8D9C-25EB6A005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16C09CC-72D7-4056-9CD5-0B84820A2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DFC7283-53CD-4920-A866-F6525DE4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86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ECB112-3237-4EFB-9D41-6F5604500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B20FB7D-0555-4F52-8B85-B08680733F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358BA81-ADBE-4739-B22E-B035A0BE1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840288C-6FDC-43FD-BBF4-08C3E56FC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FEA7D24-5CC7-421F-AA11-B6F9EFA62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EC0196F-62C8-4319-A7D6-3D62ABD9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47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E38F48-83F3-427C-B96C-F44759226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68ABD15-3CE0-453A-8CE6-E43183DD8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C31E1A7-DCC4-4CB1-AD19-850F8A6CD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120256F-D60F-4DA0-86B1-724091B1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7B9E485-8F61-4FBB-BD4E-04621A769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192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2579F36C-8169-4FB1-B8E1-18B420C5C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5A84C71-951E-4C26-B65C-43407F7AE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8BDA4E2-BA6B-43AD-B959-B0D62430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9B5E6B3-8D2C-4200-97AA-725C0D9A4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33966A-5D1F-4181-B299-EFA40202E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34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91250671-F061-4262-BD40-5DFF646CB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826D90A-C0F6-4E32-B551-3F1251D06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026F010-9A2C-4E78-B540-33DD79E1DC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82F66-3B5F-490A-992F-FFF3C9E55CB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4B310BA-2F06-469E-ACBA-E959990AF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27D18BE-C961-4499-BE37-B736CF058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5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ole.cloud.google.com/apis/credential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so.vse.cz/~xname/12-google-login/google-callback.php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6F02D3-1BD1-4193-87DC-F00146DB3C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sz="4000" dirty="0"/>
              <a:t>Ukázka přihlašování uživatelů pomocí Google účtu</a:t>
            </a:r>
            <a:endParaRPr lang="en-US" sz="4000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AF92F23-6AB1-43C2-901D-308E982166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br>
              <a:rPr lang="cs-CZ" dirty="0"/>
            </a:br>
            <a:r>
              <a:rPr lang="cs-CZ" dirty="0"/>
              <a:t>Tento příklad přímo navazuje na předchozí prezentaci</a:t>
            </a:r>
            <a:br>
              <a:rPr lang="cs-CZ" dirty="0"/>
            </a:br>
            <a:r>
              <a:rPr lang="cs-CZ" dirty="0"/>
              <a:t>„Ukázka přihlašování uživatelů</a:t>
            </a:r>
            <a:br>
              <a:rPr lang="cs-CZ" dirty="0"/>
            </a:br>
            <a:r>
              <a:rPr lang="cs-CZ" dirty="0"/>
              <a:t>s možností obnovy zapomenutého hesla “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24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1981CA-8392-49FA-85C3-34BE460C4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Registrace aplikace na Google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802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124C68-A5A8-4EB0-921C-758F1AF39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3EAF075-8906-4677-BE1E-6C998F84A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08AD16D7-0464-4BDB-97D5-AAF65040C623}"/>
              </a:ext>
            </a:extLst>
          </p:cNvPr>
          <p:cNvSpPr/>
          <p:nvPr/>
        </p:nvSpPr>
        <p:spPr>
          <a:xfrm>
            <a:off x="10747717" y="2275297"/>
            <a:ext cx="1126027" cy="47707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6C5D092C-AAA6-6D8A-7409-71575DDEC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E37870D9-67F2-4263-82BF-E6BB116DD1FA}"/>
              </a:ext>
            </a:extLst>
          </p:cNvPr>
          <p:cNvSpPr txBox="1"/>
          <p:nvPr/>
        </p:nvSpPr>
        <p:spPr>
          <a:xfrm>
            <a:off x="5927036" y="2413337"/>
            <a:ext cx="5287811" cy="313932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Pro přihlašování pomocí Google účtu je nejprve nutné naši aplikaci zaregistrovat u tohoto poskytovatele. </a:t>
            </a:r>
          </a:p>
          <a:p>
            <a:endParaRPr lang="cs-CZ" dirty="0">
              <a:solidFill>
                <a:schemeClr val="bg1"/>
              </a:solidFill>
            </a:endParaRPr>
          </a:p>
          <a:p>
            <a:r>
              <a:rPr lang="cs-CZ" dirty="0">
                <a:solidFill>
                  <a:schemeClr val="bg1"/>
                </a:solidFill>
              </a:rPr>
              <a:t>Navštívíme stránku </a:t>
            </a:r>
            <a:r>
              <a:rPr lang="cs-CZ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https://console.cloud.google.com/apis/credentials</a:t>
            </a:r>
            <a:r>
              <a:rPr lang="cs-CZ" dirty="0">
                <a:solidFill>
                  <a:schemeClr val="bg1"/>
                </a:solidFill>
              </a:rPr>
              <a:t> a přihlásíme se svým Google účtem.</a:t>
            </a:r>
          </a:p>
          <a:p>
            <a:endParaRPr lang="cs-CZ" dirty="0">
              <a:solidFill>
                <a:schemeClr val="bg1"/>
              </a:solidFill>
            </a:endParaRPr>
          </a:p>
          <a:p>
            <a:r>
              <a:rPr lang="cs-CZ" dirty="0">
                <a:solidFill>
                  <a:schemeClr val="bg1"/>
                </a:solidFill>
              </a:rPr>
              <a:t>Následně klikneme na tlačítko vlevo nahoře pro přepnutí projektu a zvolíme možnost vytvoření nového projektu, nebo poté rovnou načteme adresu</a:t>
            </a:r>
            <a:br>
              <a:rPr lang="cs-CZ" dirty="0">
                <a:solidFill>
                  <a:schemeClr val="bg1"/>
                </a:solidFill>
              </a:rPr>
            </a:br>
            <a:r>
              <a:rPr lang="cs-CZ" dirty="0">
                <a:solidFill>
                  <a:srgbClr val="FFFF00"/>
                </a:solidFill>
              </a:rPr>
              <a:t>https://console.cloud.google.com/projectcreate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D9D35F66-A460-22AB-F570-C614728A057E}"/>
              </a:ext>
            </a:extLst>
          </p:cNvPr>
          <p:cNvSpPr/>
          <p:nvPr/>
        </p:nvSpPr>
        <p:spPr>
          <a:xfrm>
            <a:off x="1987864" y="787953"/>
            <a:ext cx="1911783" cy="47607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475375-3E0E-8A75-6955-61A6F3F0C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6B7B4C9-D704-3C9E-0607-CAD5CFF7B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547972C8-AA39-AB30-9415-A2B35F79C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93B83AC9-06C5-8DFA-B5D5-E9D91A0AE984}"/>
              </a:ext>
            </a:extLst>
          </p:cNvPr>
          <p:cNvSpPr txBox="1"/>
          <p:nvPr/>
        </p:nvSpPr>
        <p:spPr>
          <a:xfrm>
            <a:off x="5328583" y="2871375"/>
            <a:ext cx="3844493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Zadáme název projektu (naší aplikace), volitelně můžeme také upravit jeho ID.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cs-CZ" dirty="0" err="1">
                <a:solidFill>
                  <a:schemeClr val="bg1"/>
                </a:solidFill>
              </a:rPr>
              <a:t>ásledně</a:t>
            </a:r>
            <a:r>
              <a:rPr lang="cs-CZ" dirty="0">
                <a:solidFill>
                  <a:schemeClr val="bg1"/>
                </a:solidFill>
              </a:rPr>
              <a:t> klikneme na </a:t>
            </a:r>
            <a:r>
              <a:rPr lang="cs-CZ" dirty="0" err="1">
                <a:solidFill>
                  <a:schemeClr val="bg1"/>
                </a:solidFill>
              </a:rPr>
              <a:t>Create</a:t>
            </a:r>
            <a:r>
              <a:rPr lang="cs-CZ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72E723E0-8A35-24CA-A250-4A4AB8736B36}"/>
              </a:ext>
            </a:extLst>
          </p:cNvPr>
          <p:cNvSpPr/>
          <p:nvPr/>
        </p:nvSpPr>
        <p:spPr>
          <a:xfrm>
            <a:off x="365252" y="2871375"/>
            <a:ext cx="4857483" cy="72347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27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C9695C-BA53-A545-5664-377EF8B43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A5BF38F-E6DB-F244-B9C2-1BE4815B8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20DBBF1A-0ADA-E8A5-3C6C-2B302A20A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BB3C5F17-CEB3-DCC6-CCAA-97047BF07035}"/>
              </a:ext>
            </a:extLst>
          </p:cNvPr>
          <p:cNvSpPr txBox="1"/>
          <p:nvPr/>
        </p:nvSpPr>
        <p:spPr>
          <a:xfrm>
            <a:off x="7390466" y="4001294"/>
            <a:ext cx="3844493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Pokud jste již v </a:t>
            </a:r>
            <a:r>
              <a:rPr lang="cs-CZ" dirty="0" err="1">
                <a:solidFill>
                  <a:schemeClr val="bg1"/>
                </a:solidFill>
              </a:rPr>
              <a:t>minulocti</a:t>
            </a:r>
            <a:r>
              <a:rPr lang="cs-CZ" dirty="0">
                <a:solidFill>
                  <a:schemeClr val="bg1"/>
                </a:solidFill>
              </a:rPr>
              <a:t> Cloud </a:t>
            </a:r>
            <a:r>
              <a:rPr lang="cs-CZ" dirty="0" err="1">
                <a:solidFill>
                  <a:schemeClr val="bg1"/>
                </a:solidFill>
              </a:rPr>
              <a:t>Consoli</a:t>
            </a:r>
            <a:r>
              <a:rPr lang="cs-CZ" dirty="0">
                <a:solidFill>
                  <a:schemeClr val="bg1"/>
                </a:solidFill>
              </a:rPr>
              <a:t> využívali, zkontrolujte, že jste přepnuti na nově vytvořeném projektu.</a:t>
            </a:r>
          </a:p>
          <a:p>
            <a:endParaRPr lang="cs-CZ" dirty="0">
              <a:solidFill>
                <a:schemeClr val="bg1"/>
              </a:solidFill>
            </a:endParaRPr>
          </a:p>
          <a:p>
            <a:r>
              <a:rPr lang="cs-CZ" dirty="0">
                <a:solidFill>
                  <a:schemeClr val="bg1"/>
                </a:solidFill>
              </a:rPr>
              <a:t>Následně bude potřeba v menu přejít na nastavení </a:t>
            </a:r>
            <a:r>
              <a:rPr lang="cs-CZ" dirty="0" err="1">
                <a:solidFill>
                  <a:schemeClr val="bg1"/>
                </a:solidFill>
              </a:rPr>
              <a:t>OAuth</a:t>
            </a:r>
            <a:r>
              <a:rPr lang="cs-CZ" dirty="0">
                <a:solidFill>
                  <a:schemeClr val="bg1"/>
                </a:solidFill>
              </a:rPr>
              <a:t> </a:t>
            </a:r>
            <a:r>
              <a:rPr lang="cs-CZ" dirty="0" err="1">
                <a:solidFill>
                  <a:schemeClr val="bg1"/>
                </a:solidFill>
              </a:rPr>
              <a:t>consent</a:t>
            </a:r>
            <a:r>
              <a:rPr lang="cs-CZ" dirty="0">
                <a:solidFill>
                  <a:schemeClr val="bg1"/>
                </a:solidFill>
              </a:rPr>
              <a:t> </a:t>
            </a:r>
            <a:r>
              <a:rPr lang="cs-CZ" dirty="0" err="1">
                <a:solidFill>
                  <a:schemeClr val="bg1"/>
                </a:solidFill>
              </a:rPr>
              <a:t>screen</a:t>
            </a:r>
            <a:r>
              <a:rPr lang="cs-CZ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2C10AD26-263C-ED4C-1EB2-14D105E96E39}"/>
              </a:ext>
            </a:extLst>
          </p:cNvPr>
          <p:cNvSpPr/>
          <p:nvPr/>
        </p:nvSpPr>
        <p:spPr>
          <a:xfrm>
            <a:off x="329394" y="5032148"/>
            <a:ext cx="2395878" cy="41839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999523C5-E3AC-85A7-4322-02AEE6FF4A1A}"/>
              </a:ext>
            </a:extLst>
          </p:cNvPr>
          <p:cNvSpPr/>
          <p:nvPr/>
        </p:nvSpPr>
        <p:spPr>
          <a:xfrm>
            <a:off x="2658358" y="5967766"/>
            <a:ext cx="1923069" cy="41839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3BF5A641-9399-C010-27E9-BB494A9F2927}"/>
              </a:ext>
            </a:extLst>
          </p:cNvPr>
          <p:cNvSpPr/>
          <p:nvPr/>
        </p:nvSpPr>
        <p:spPr>
          <a:xfrm>
            <a:off x="4705002" y="811038"/>
            <a:ext cx="1390998" cy="41839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148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5A5F3D-7B45-940A-4AA4-F645CB6F4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D390709-DEF8-9954-D9AA-88B40E17E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900A237-419B-D4E3-B990-5D39CAAC2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98A6E2BE-7962-047C-2291-04ABA8941DED}"/>
              </a:ext>
            </a:extLst>
          </p:cNvPr>
          <p:cNvSpPr txBox="1"/>
          <p:nvPr/>
        </p:nvSpPr>
        <p:spPr>
          <a:xfrm>
            <a:off x="7798704" y="4716988"/>
            <a:ext cx="3844493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Následně bude potřeba vyplnit jednoduchého průvodce. Nejprve zadáme název aplikace a také kontaktní mail.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559AE585-CCE6-D09A-E194-603EBD6F82A8}"/>
              </a:ext>
            </a:extLst>
          </p:cNvPr>
          <p:cNvSpPr/>
          <p:nvPr/>
        </p:nvSpPr>
        <p:spPr>
          <a:xfrm>
            <a:off x="3033037" y="2547835"/>
            <a:ext cx="4857483" cy="203421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94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836CC7-724D-C1DE-2E17-D419D2C52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03D71EE-7D6F-3079-F227-57988AF55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074CFAB-C946-BF2F-80DE-9C7EDC7AE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1F2718EA-CBD2-DCC8-23B4-3B0DE3BFE626}"/>
              </a:ext>
            </a:extLst>
          </p:cNvPr>
          <p:cNvSpPr txBox="1"/>
          <p:nvPr/>
        </p:nvSpPr>
        <p:spPr>
          <a:xfrm>
            <a:off x="7587689" y="2222375"/>
            <a:ext cx="3844493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Ve 2. části si vybereme, kdo má mít právo se přihlásit. Pro veřejné přihlašování potřebujeme povolit „</a:t>
            </a:r>
            <a:r>
              <a:rPr lang="cs-CZ" dirty="0" err="1">
                <a:solidFill>
                  <a:schemeClr val="bg1"/>
                </a:solidFill>
              </a:rPr>
              <a:t>External</a:t>
            </a:r>
            <a:r>
              <a:rPr lang="cs-CZ" dirty="0">
                <a:solidFill>
                  <a:schemeClr val="bg1"/>
                </a:solidFill>
              </a:rPr>
              <a:t>“.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1AA07038-2382-5794-7562-F05DAE3CE1FB}"/>
              </a:ext>
            </a:extLst>
          </p:cNvPr>
          <p:cNvSpPr/>
          <p:nvPr/>
        </p:nvSpPr>
        <p:spPr>
          <a:xfrm>
            <a:off x="2956052" y="4207115"/>
            <a:ext cx="4857483" cy="236659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03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6BBF14-8A41-A336-826C-E7E1B4071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EEEEABC-2094-5C71-3347-9365ABB17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46AA030-FCBD-C34F-D37A-3D9FB312C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E3D5B1EB-72AF-2A3B-2056-5068EF14E899}"/>
              </a:ext>
            </a:extLst>
          </p:cNvPr>
          <p:cNvSpPr txBox="1"/>
          <p:nvPr/>
        </p:nvSpPr>
        <p:spPr>
          <a:xfrm>
            <a:off x="7982255" y="2276591"/>
            <a:ext cx="3844493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Následně ještě kontaktní mail pro Google (pro účely správy projektu na Cloud </a:t>
            </a:r>
            <a:r>
              <a:rPr lang="cs-CZ" dirty="0" err="1">
                <a:solidFill>
                  <a:schemeClr val="bg1"/>
                </a:solidFill>
              </a:rPr>
              <a:t>Consoli</a:t>
            </a:r>
            <a:r>
              <a:rPr lang="cs-CZ" dirty="0">
                <a:solidFill>
                  <a:schemeClr val="bg1"/>
                </a:solidFill>
              </a:rPr>
              <a:t>) – může být jiný než ten veřejný v </a:t>
            </a:r>
            <a:r>
              <a:rPr lang="cs-CZ" dirty="0" err="1">
                <a:solidFill>
                  <a:schemeClr val="bg1"/>
                </a:solidFill>
              </a:rPr>
              <a:t>App</a:t>
            </a:r>
            <a:r>
              <a:rPr lang="cs-CZ" dirty="0">
                <a:solidFill>
                  <a:schemeClr val="bg1"/>
                </a:solidFill>
              </a:rPr>
              <a:t> </a:t>
            </a:r>
            <a:r>
              <a:rPr lang="cs-CZ" dirty="0" err="1">
                <a:solidFill>
                  <a:schemeClr val="bg1"/>
                </a:solidFill>
              </a:rPr>
              <a:t>Information</a:t>
            </a:r>
            <a:r>
              <a:rPr lang="cs-CZ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D70542AE-DFD0-53FE-1459-8B4AB1AB0D08}"/>
              </a:ext>
            </a:extLst>
          </p:cNvPr>
          <p:cNvSpPr/>
          <p:nvPr/>
        </p:nvSpPr>
        <p:spPr>
          <a:xfrm>
            <a:off x="2830547" y="3428999"/>
            <a:ext cx="4857483" cy="181535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23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A49053-8BE4-0DC1-B95E-9347EBFCC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5B055D7-6FB2-A3AB-CCA6-2D5E4CDDE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A061E72-1A56-7B02-5CDC-7954B3C3C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1C1729AD-FAFD-8940-7971-1472CDA8BA4C}"/>
              </a:ext>
            </a:extLst>
          </p:cNvPr>
          <p:cNvSpPr txBox="1"/>
          <p:nvPr/>
        </p:nvSpPr>
        <p:spPr>
          <a:xfrm>
            <a:off x="7636430" y="4175740"/>
            <a:ext cx="3844493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A nakonec zaškrtneme povinný souhlas s podmínkami a klikneme na </a:t>
            </a:r>
            <a:r>
              <a:rPr lang="cs-CZ" dirty="0" err="1">
                <a:solidFill>
                  <a:schemeClr val="bg1"/>
                </a:solidFill>
              </a:rPr>
              <a:t>Create</a:t>
            </a:r>
            <a:r>
              <a:rPr lang="cs-CZ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0547A4C1-7F98-7858-2E36-41A068629704}"/>
              </a:ext>
            </a:extLst>
          </p:cNvPr>
          <p:cNvSpPr/>
          <p:nvPr/>
        </p:nvSpPr>
        <p:spPr>
          <a:xfrm>
            <a:off x="2633323" y="4117469"/>
            <a:ext cx="4857483" cy="188888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6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E4A06C-C1DD-D01B-ED19-BCAE92603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0F89F49-040C-71FB-A794-F8634DA84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1A74C678-5BD9-AF21-3EE9-ED8AD2D9C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52B9AB09-B366-1ABD-A0A9-C9AE152530E6}"/>
              </a:ext>
            </a:extLst>
          </p:cNvPr>
          <p:cNvSpPr txBox="1"/>
          <p:nvPr/>
        </p:nvSpPr>
        <p:spPr>
          <a:xfrm>
            <a:off x="7982255" y="1666463"/>
            <a:ext cx="3844493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Základ projektu a </a:t>
            </a:r>
            <a:r>
              <a:rPr lang="cs-CZ" dirty="0" err="1">
                <a:solidFill>
                  <a:schemeClr val="bg1"/>
                </a:solidFill>
              </a:rPr>
              <a:t>consent</a:t>
            </a:r>
            <a:r>
              <a:rPr lang="cs-CZ" dirty="0">
                <a:solidFill>
                  <a:schemeClr val="bg1"/>
                </a:solidFill>
              </a:rPr>
              <a:t> </a:t>
            </a:r>
            <a:r>
              <a:rPr lang="cs-CZ" dirty="0" err="1">
                <a:solidFill>
                  <a:schemeClr val="bg1"/>
                </a:solidFill>
              </a:rPr>
              <a:t>screen</a:t>
            </a:r>
            <a:r>
              <a:rPr lang="cs-CZ" dirty="0">
                <a:solidFill>
                  <a:schemeClr val="bg1"/>
                </a:solidFill>
              </a:rPr>
              <a:t> máme připravený, můžeme jít na nastavení </a:t>
            </a:r>
            <a:r>
              <a:rPr lang="cs-CZ" dirty="0" err="1">
                <a:solidFill>
                  <a:schemeClr val="bg1"/>
                </a:solidFill>
              </a:rPr>
              <a:t>OAuth</a:t>
            </a:r>
            <a:r>
              <a:rPr lang="cs-CZ" dirty="0">
                <a:solidFill>
                  <a:schemeClr val="bg1"/>
                </a:solidFill>
              </a:rPr>
              <a:t> klienta.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58B1917-0717-F61A-1DD5-561E992913C0}"/>
              </a:ext>
            </a:extLst>
          </p:cNvPr>
          <p:cNvSpPr/>
          <p:nvPr/>
        </p:nvSpPr>
        <p:spPr>
          <a:xfrm>
            <a:off x="10049435" y="2760801"/>
            <a:ext cx="1593762" cy="59635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78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B229E9-5E9B-F911-965C-EF2D214C8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6D96094-4725-E4BB-D9A3-6F75A7206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B602E71F-E511-DF29-360C-E2B9BD326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81F56F20-5B09-9B81-83B5-6D10C9424A07}"/>
              </a:ext>
            </a:extLst>
          </p:cNvPr>
          <p:cNvSpPr txBox="1"/>
          <p:nvPr/>
        </p:nvSpPr>
        <p:spPr>
          <a:xfrm>
            <a:off x="7883524" y="1825625"/>
            <a:ext cx="3844493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Jako první vybereme typ klienta (Web </a:t>
            </a:r>
            <a:r>
              <a:rPr lang="cs-CZ" dirty="0" err="1">
                <a:solidFill>
                  <a:schemeClr val="bg1"/>
                </a:solidFill>
              </a:rPr>
              <a:t>application</a:t>
            </a:r>
            <a:r>
              <a:rPr lang="cs-CZ" dirty="0">
                <a:solidFill>
                  <a:schemeClr val="bg1"/>
                </a:solidFill>
              </a:rPr>
              <a:t>) a veřejně zobrazované jméno aplikace.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E345C1ED-3C17-F8EF-9F60-10377F4DD322}"/>
              </a:ext>
            </a:extLst>
          </p:cNvPr>
          <p:cNvSpPr/>
          <p:nvPr/>
        </p:nvSpPr>
        <p:spPr>
          <a:xfrm>
            <a:off x="2736643" y="2748955"/>
            <a:ext cx="4857483" cy="145549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64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5DC228-9564-F5E1-3324-36ACC0612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85DBCC-AE87-7F15-35E6-1BA7729BC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B0DCCA0-A1C3-D26D-BB01-BABE03F3A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0984B8ED-DC05-6BA7-2CC0-DF7369B15107}"/>
              </a:ext>
            </a:extLst>
          </p:cNvPr>
          <p:cNvSpPr txBox="1"/>
          <p:nvPr/>
        </p:nvSpPr>
        <p:spPr>
          <a:xfrm>
            <a:off x="8088102" y="813525"/>
            <a:ext cx="3844493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Následně </a:t>
            </a:r>
            <a:r>
              <a:rPr lang="cs-CZ" dirty="0" err="1">
                <a:solidFill>
                  <a:schemeClr val="bg1"/>
                </a:solidFill>
              </a:rPr>
              <a:t>přerolujeme</a:t>
            </a:r>
            <a:r>
              <a:rPr lang="cs-CZ" dirty="0">
                <a:solidFill>
                  <a:schemeClr val="bg1"/>
                </a:solidFill>
              </a:rPr>
              <a:t> až na konec stránky a klikneme na </a:t>
            </a:r>
            <a:r>
              <a:rPr lang="cs-CZ" dirty="0" err="1">
                <a:solidFill>
                  <a:schemeClr val="bg1"/>
                </a:solidFill>
              </a:rPr>
              <a:t>Create</a:t>
            </a:r>
            <a:r>
              <a:rPr lang="cs-CZ" dirty="0">
                <a:solidFill>
                  <a:schemeClr val="bg1"/>
                </a:solidFill>
              </a:rPr>
              <a:t>. </a:t>
            </a:r>
          </a:p>
          <a:p>
            <a:endParaRPr lang="cs-CZ" dirty="0">
              <a:solidFill>
                <a:schemeClr val="bg1"/>
              </a:solidFill>
            </a:endParaRPr>
          </a:p>
          <a:p>
            <a:r>
              <a:rPr lang="cs-CZ" dirty="0">
                <a:solidFill>
                  <a:schemeClr val="bg1"/>
                </a:solidFill>
              </a:rPr>
              <a:t>Objeví se nám vyskakovací okno s </a:t>
            </a:r>
            <a:r>
              <a:rPr lang="cs-CZ" dirty="0" err="1">
                <a:solidFill>
                  <a:schemeClr val="bg1"/>
                </a:solidFill>
              </a:rPr>
              <a:t>Cliend</a:t>
            </a:r>
            <a:r>
              <a:rPr lang="cs-CZ" dirty="0">
                <a:solidFill>
                  <a:schemeClr val="bg1"/>
                </a:solidFill>
              </a:rPr>
              <a:t> ID – to si zkopírujte někam bokem, budeme jej potřebovat.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B0C48143-6A88-6303-137E-085D50E07B4A}"/>
              </a:ext>
            </a:extLst>
          </p:cNvPr>
          <p:cNvSpPr/>
          <p:nvPr/>
        </p:nvSpPr>
        <p:spPr>
          <a:xfrm>
            <a:off x="2731934" y="6311900"/>
            <a:ext cx="755337" cy="43852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58CF6F10-B129-AC25-EC86-3B4657C4546E}"/>
              </a:ext>
            </a:extLst>
          </p:cNvPr>
          <p:cNvSpPr/>
          <p:nvPr/>
        </p:nvSpPr>
        <p:spPr>
          <a:xfrm>
            <a:off x="3879416" y="3694206"/>
            <a:ext cx="4412937" cy="79711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54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69FFEE-5359-A2DF-63A1-80DCBC766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5BA5BD8-96CF-3EDE-5690-646CD23AB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384E476-FCB1-A11C-4AC9-E68308E82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A1A92831-165B-3AC2-AD3C-827B9BF58552}"/>
              </a:ext>
            </a:extLst>
          </p:cNvPr>
          <p:cNvSpPr txBox="1"/>
          <p:nvPr/>
        </p:nvSpPr>
        <p:spPr>
          <a:xfrm>
            <a:off x="8088102" y="813525"/>
            <a:ext cx="3844493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V zobrazeném seznamu </a:t>
            </a:r>
            <a:r>
              <a:rPr lang="cs-CZ" dirty="0" err="1">
                <a:solidFill>
                  <a:schemeClr val="bg1"/>
                </a:solidFill>
              </a:rPr>
              <a:t>OAuth</a:t>
            </a:r>
            <a:r>
              <a:rPr lang="cs-CZ" dirty="0">
                <a:solidFill>
                  <a:schemeClr val="bg1"/>
                </a:solidFill>
              </a:rPr>
              <a:t> klientů si opět vybereme naší aplikaci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80AD51B3-AED5-4AA0-8431-2E12CB4CAA64}"/>
              </a:ext>
            </a:extLst>
          </p:cNvPr>
          <p:cNvSpPr/>
          <p:nvPr/>
        </p:nvSpPr>
        <p:spPr>
          <a:xfrm>
            <a:off x="3198098" y="2869453"/>
            <a:ext cx="1078067" cy="32198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679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9CAFAC-292B-97BF-E50B-BC64F8888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E38191-B083-D7CF-BDF3-91425443D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B05F0E3-9B03-AB61-0D1C-977791619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FA5A6B59-FD50-65F4-47D5-8EFAD27959EC}"/>
              </a:ext>
            </a:extLst>
          </p:cNvPr>
          <p:cNvSpPr txBox="1"/>
          <p:nvPr/>
        </p:nvSpPr>
        <p:spPr>
          <a:xfrm>
            <a:off x="5876458" y="3429000"/>
            <a:ext cx="3844493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A jdeme na podrobnější nastavení. Bude nutné zadat adresy (aspoň 1), kam chceme povolit přesměrování uživatele poté, co se přihlásí na straně Googlu.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EFFE7907-4E96-A3B7-4819-3852E7844D1F}"/>
              </a:ext>
            </a:extLst>
          </p:cNvPr>
          <p:cNvSpPr/>
          <p:nvPr/>
        </p:nvSpPr>
        <p:spPr>
          <a:xfrm>
            <a:off x="2965016" y="4411383"/>
            <a:ext cx="1087031" cy="35784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900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62EDC6-FCF8-3F56-FD1C-88129127F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7F04151-2B07-7141-9389-5690E6A36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110CE5EE-FB32-6D46-22D8-0177DDBAD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2DA6C5CA-5857-BA06-9BC9-40B48987E3D6}"/>
              </a:ext>
            </a:extLst>
          </p:cNvPr>
          <p:cNvSpPr txBox="1"/>
          <p:nvPr/>
        </p:nvSpPr>
        <p:spPr>
          <a:xfrm>
            <a:off x="5464560" y="590548"/>
            <a:ext cx="6468035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Budeme chtít uživatele poslat na soubor </a:t>
            </a:r>
            <a:r>
              <a:rPr lang="cs-CZ" dirty="0" err="1">
                <a:solidFill>
                  <a:schemeClr val="bg1"/>
                </a:solidFill>
              </a:rPr>
              <a:t>google-callback.php</a:t>
            </a:r>
            <a:r>
              <a:rPr lang="cs-CZ" dirty="0">
                <a:solidFill>
                  <a:schemeClr val="bg1"/>
                </a:solidFill>
              </a:rPr>
              <a:t>, který bude v adresáři s naší aplikací. </a:t>
            </a:r>
          </a:p>
          <a:p>
            <a:endParaRPr lang="cs-CZ" dirty="0">
              <a:solidFill>
                <a:schemeClr val="bg1"/>
              </a:solidFill>
            </a:endParaRPr>
          </a:p>
          <a:p>
            <a:r>
              <a:rPr lang="cs-CZ" dirty="0">
                <a:solidFill>
                  <a:schemeClr val="bg1"/>
                </a:solidFill>
              </a:rPr>
              <a:t>Upravte si danou cestu podle toho, kam na serveru projekt reálně nahrajete.</a:t>
            </a:r>
          </a:p>
          <a:p>
            <a:endParaRPr lang="cs-CZ" dirty="0">
              <a:solidFill>
                <a:schemeClr val="bg1"/>
              </a:solidFill>
            </a:endParaRPr>
          </a:p>
          <a:p>
            <a:r>
              <a:rPr lang="cs-CZ" dirty="0">
                <a:solidFill>
                  <a:schemeClr val="bg1"/>
                </a:solidFill>
              </a:rPr>
              <a:t>Výchozí </a:t>
            </a:r>
            <a:r>
              <a:rPr lang="cs-CZ" dirty="0" err="1">
                <a:solidFill>
                  <a:schemeClr val="bg1"/>
                </a:solidFill>
              </a:rPr>
              <a:t>redirect</a:t>
            </a:r>
            <a:r>
              <a:rPr lang="cs-CZ" dirty="0">
                <a:solidFill>
                  <a:schemeClr val="bg1"/>
                </a:solidFill>
              </a:rPr>
              <a:t> k úpravě je:</a:t>
            </a:r>
            <a:br>
              <a:rPr lang="cs-CZ" dirty="0">
                <a:solidFill>
                  <a:schemeClr val="bg1"/>
                </a:solidFill>
              </a:rPr>
            </a:br>
            <a:r>
              <a:rPr lang="cs-CZ" u="sng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https://eso.vse.cz/</a:t>
            </a:r>
            <a:r>
              <a:rPr lang="en-US" u="sng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~</a:t>
            </a:r>
            <a:r>
              <a:rPr lang="cs-CZ" u="sng" dirty="0" err="1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xname</a:t>
            </a:r>
            <a:r>
              <a:rPr lang="cs-CZ" u="sng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/12-google-login/</a:t>
            </a:r>
            <a:r>
              <a:rPr lang="cs-CZ" u="sng" dirty="0" err="1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google-callback.php</a:t>
            </a:r>
            <a:r>
              <a:rPr lang="cs-CZ" u="sng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4E7B5109-274D-8666-8861-87156345C14E}"/>
              </a:ext>
            </a:extLst>
          </p:cNvPr>
          <p:cNvSpPr/>
          <p:nvPr/>
        </p:nvSpPr>
        <p:spPr>
          <a:xfrm>
            <a:off x="3009839" y="4169336"/>
            <a:ext cx="4323290" cy="39369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64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EA2FD8-E8E0-D957-7218-95D2ECA38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6EC2074-0FA7-5055-2AEC-FCC410851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120767C4-312A-0C3E-6EF1-3C31C0B10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45662166-0E63-842F-9161-5AE462BA3F89}"/>
              </a:ext>
            </a:extLst>
          </p:cNvPr>
          <p:cNvSpPr txBox="1"/>
          <p:nvPr/>
        </p:nvSpPr>
        <p:spPr>
          <a:xfrm>
            <a:off x="7409423" y="2335306"/>
            <a:ext cx="3844493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Na stejné obrazovce si poté ještě zkopírujeme </a:t>
            </a:r>
            <a:r>
              <a:rPr lang="cs-CZ" dirty="0" err="1">
                <a:solidFill>
                  <a:schemeClr val="bg1"/>
                </a:solidFill>
              </a:rPr>
              <a:t>Client</a:t>
            </a:r>
            <a:r>
              <a:rPr lang="cs-CZ" dirty="0">
                <a:solidFill>
                  <a:schemeClr val="bg1"/>
                </a:solidFill>
              </a:rPr>
              <a:t> </a:t>
            </a:r>
            <a:r>
              <a:rPr lang="cs-CZ" dirty="0" err="1">
                <a:solidFill>
                  <a:schemeClr val="bg1"/>
                </a:solidFill>
              </a:rPr>
              <a:t>secret</a:t>
            </a:r>
            <a:r>
              <a:rPr lang="cs-CZ" dirty="0">
                <a:solidFill>
                  <a:schemeClr val="bg1"/>
                </a:solidFill>
              </a:rPr>
              <a:t> (a schováme si jej pro budoucí použití).</a:t>
            </a:r>
          </a:p>
          <a:p>
            <a:endParaRPr lang="cs-CZ" dirty="0">
              <a:solidFill>
                <a:schemeClr val="bg1"/>
              </a:solidFill>
            </a:endParaRPr>
          </a:p>
          <a:p>
            <a:r>
              <a:rPr lang="cs-CZ" dirty="0">
                <a:solidFill>
                  <a:schemeClr val="bg1"/>
                </a:solidFill>
              </a:rPr>
              <a:t>Poté můžeme kliknout na </a:t>
            </a:r>
            <a:r>
              <a:rPr lang="cs-CZ" dirty="0" err="1">
                <a:solidFill>
                  <a:schemeClr val="bg1"/>
                </a:solidFill>
              </a:rPr>
              <a:t>Save</a:t>
            </a:r>
            <a:r>
              <a:rPr lang="cs-CZ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1AD9B80-177E-39DA-745C-55E126162235}"/>
              </a:ext>
            </a:extLst>
          </p:cNvPr>
          <p:cNvSpPr/>
          <p:nvPr/>
        </p:nvSpPr>
        <p:spPr>
          <a:xfrm>
            <a:off x="8639675" y="4931336"/>
            <a:ext cx="2799290" cy="31301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B3278D65-CFCF-5662-C830-CB75818AEBCA}"/>
              </a:ext>
            </a:extLst>
          </p:cNvPr>
          <p:cNvSpPr/>
          <p:nvPr/>
        </p:nvSpPr>
        <p:spPr>
          <a:xfrm>
            <a:off x="2956051" y="5630583"/>
            <a:ext cx="656725" cy="42955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29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603652-77B7-4F34-9972-AEFBC436B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Úprava databáze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FE1CF1A-0C44-467A-90AE-B7A676008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695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77335A-7B48-43B7-A6BF-4098F6CD8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813307-711C-4550-A30D-447527BEB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3F0111B6-E729-42BF-65EB-A028F46A7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B0167B73-C369-4508-9D61-4E46A76338EC}"/>
              </a:ext>
            </a:extLst>
          </p:cNvPr>
          <p:cNvSpPr txBox="1"/>
          <p:nvPr/>
        </p:nvSpPr>
        <p:spPr>
          <a:xfrm>
            <a:off x="7023653" y="2533581"/>
            <a:ext cx="4908274" cy="313932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Na straně Google máme aplikaci připravenou. Dalším krokem bude úprava databáze, abychom do ní mohli ukládat ID uživatele získané z Google účtu a mohli s ním následně pracovat stejně, jako kdyby šlo o uživatele přihlašujícího se heslem.</a:t>
            </a:r>
          </a:p>
          <a:p>
            <a:endParaRPr lang="cs-CZ" dirty="0"/>
          </a:p>
          <a:p>
            <a:r>
              <a:rPr lang="cs-CZ" dirty="0"/>
              <a:t>Nejprve se tedy přihlásíme do </a:t>
            </a:r>
            <a:r>
              <a:rPr lang="cs-CZ" dirty="0" err="1"/>
              <a:t>phpMyAdminu</a:t>
            </a:r>
            <a:r>
              <a:rPr lang="cs-CZ" dirty="0"/>
              <a:t> na serveru eso.vse.cz.</a:t>
            </a:r>
          </a:p>
          <a:p>
            <a:endParaRPr lang="cs-CZ" dirty="0"/>
          </a:p>
          <a:p>
            <a:r>
              <a:rPr lang="cs-CZ" dirty="0"/>
              <a:t>Následně budeme chtít přidat 1 sloupec do tabulky </a:t>
            </a:r>
            <a:r>
              <a:rPr lang="cs-CZ" dirty="0" err="1"/>
              <a:t>users</a:t>
            </a:r>
            <a:r>
              <a:rPr lang="cs-CZ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091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0F93FD-D6EA-446F-B2B2-F7D482456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94ACD2F-85E2-4814-81DF-79EC18D26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E3BAE413-1390-818E-3F99-61F91527F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1F31F704-F9AA-4CC3-B365-CBE9B6D0555E}"/>
              </a:ext>
            </a:extLst>
          </p:cNvPr>
          <p:cNvSpPr txBox="1"/>
          <p:nvPr/>
        </p:nvSpPr>
        <p:spPr>
          <a:xfrm>
            <a:off x="7222435" y="3315459"/>
            <a:ext cx="4550466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Do tabulky „</a:t>
            </a:r>
            <a:r>
              <a:rPr lang="cs-CZ" dirty="0" err="1"/>
              <a:t>users</a:t>
            </a:r>
            <a:r>
              <a:rPr lang="cs-CZ" dirty="0"/>
              <a:t>“ si přidáme nový sloupec s názvem „</a:t>
            </a:r>
            <a:r>
              <a:rPr lang="cs-CZ" dirty="0" err="1"/>
              <a:t>google_id</a:t>
            </a:r>
            <a:r>
              <a:rPr lang="cs-CZ" dirty="0"/>
              <a:t>“.</a:t>
            </a:r>
          </a:p>
          <a:p>
            <a:endParaRPr lang="cs-CZ" dirty="0"/>
          </a:p>
          <a:p>
            <a:r>
              <a:rPr lang="cs-CZ" dirty="0"/>
              <a:t>Půjde o typ </a:t>
            </a:r>
            <a:r>
              <a:rPr lang="cs-CZ" dirty="0" err="1"/>
              <a:t>varchar</a:t>
            </a:r>
            <a:r>
              <a:rPr lang="cs-CZ" dirty="0"/>
              <a:t> o max. délce 255, pro daný sloupec povolíme </a:t>
            </a:r>
            <a:r>
              <a:rPr lang="cs-CZ" dirty="0" err="1"/>
              <a:t>null</a:t>
            </a:r>
            <a:r>
              <a:rPr lang="cs-CZ" dirty="0"/>
              <a:t> hodnoty. Nad tímto sloupcem zároveň definujeme klíč typu </a:t>
            </a:r>
            <a:r>
              <a:rPr lang="cs-CZ" dirty="0" err="1"/>
              <a:t>unique</a:t>
            </a:r>
            <a:r>
              <a:rPr lang="cs-CZ" dirty="0"/>
              <a:t>.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DC002F06-8286-47CD-B409-314E83A6419F}"/>
              </a:ext>
            </a:extLst>
          </p:cNvPr>
          <p:cNvSpPr/>
          <p:nvPr/>
        </p:nvSpPr>
        <p:spPr>
          <a:xfrm>
            <a:off x="2183878" y="2352710"/>
            <a:ext cx="9852993" cy="70854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134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CE558C-0003-466E-A4CF-E37F1CAD8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B5B674A-86FC-43EF-B765-6B5829CB9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8F289965-2086-3EFB-BCCC-5999D2C8C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12D5629E-F921-42BC-802F-3C0332EFFB4E}"/>
              </a:ext>
            </a:extLst>
          </p:cNvPr>
          <p:cNvSpPr txBox="1"/>
          <p:nvPr/>
        </p:nvSpPr>
        <p:spPr>
          <a:xfrm>
            <a:off x="7835349" y="4001294"/>
            <a:ext cx="3937551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Aby nám dobře fungovalo jak lokální přihlašování, tak přihlašování pomocí Google, tak ještě budeme muset upravit definici sloupce „</a:t>
            </a:r>
            <a:r>
              <a:rPr lang="cs-CZ" dirty="0" err="1"/>
              <a:t>password</a:t>
            </a:r>
            <a:r>
              <a:rPr lang="cs-CZ" dirty="0"/>
              <a:t>“. </a:t>
            </a:r>
          </a:p>
          <a:p>
            <a:endParaRPr lang="cs-CZ" dirty="0"/>
          </a:p>
          <a:p>
            <a:r>
              <a:rPr lang="cs-CZ" dirty="0"/>
              <a:t>V zobrazení struktury tabulky „</a:t>
            </a:r>
            <a:r>
              <a:rPr lang="cs-CZ" dirty="0" err="1"/>
              <a:t>users</a:t>
            </a:r>
            <a:r>
              <a:rPr lang="cs-CZ" dirty="0"/>
              <a:t>“ tedy vybereme možnost změnit definici tohoto sloupce.</a:t>
            </a:r>
            <a:endParaRPr lang="en-US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63A906A7-2998-478E-BA9D-FEEDB986A400}"/>
              </a:ext>
            </a:extLst>
          </p:cNvPr>
          <p:cNvSpPr/>
          <p:nvPr/>
        </p:nvSpPr>
        <p:spPr>
          <a:xfrm>
            <a:off x="2696814" y="2743201"/>
            <a:ext cx="7872574" cy="29154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17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A03D34-1A61-4938-A403-72F9CCAA2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3F24BEA-8C83-4A5B-A70C-ECF60F509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95268D52-F9C4-1FF5-237B-3E1E0B6F9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975EECA0-358C-4219-A2C4-BFD21F6440A5}"/>
              </a:ext>
            </a:extLst>
          </p:cNvPr>
          <p:cNvSpPr txBox="1"/>
          <p:nvPr/>
        </p:nvSpPr>
        <p:spPr>
          <a:xfrm>
            <a:off x="7318514" y="3037642"/>
            <a:ext cx="4210877" cy="3693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Změnou, kterou potřebujeme provést, je povolení </a:t>
            </a:r>
            <a:r>
              <a:rPr lang="cs-CZ" dirty="0" err="1"/>
              <a:t>null</a:t>
            </a:r>
            <a:r>
              <a:rPr lang="cs-CZ" dirty="0"/>
              <a:t> hodnot (nebo případně doplnění výchozí hodnoty hesla jako prázdného řetězce).</a:t>
            </a:r>
          </a:p>
          <a:p>
            <a:endParaRPr lang="cs-CZ" dirty="0"/>
          </a:p>
          <a:p>
            <a:r>
              <a:rPr lang="cs-CZ" dirty="0"/>
              <a:t>Pokud se uživatel přihlásí pomocí Google, heslo nebude k dispozici.</a:t>
            </a:r>
          </a:p>
          <a:p>
            <a:endParaRPr lang="cs-CZ" dirty="0"/>
          </a:p>
          <a:p>
            <a:r>
              <a:rPr lang="cs-CZ" dirty="0"/>
              <a:t>Pokud se naopak zaregistruje s heslem, zůstane </a:t>
            </a:r>
            <a:r>
              <a:rPr lang="cs-CZ" dirty="0" err="1"/>
              <a:t>null</a:t>
            </a:r>
            <a:r>
              <a:rPr lang="cs-CZ" dirty="0"/>
              <a:t> hodnota ve sloupci „</a:t>
            </a:r>
            <a:r>
              <a:rPr lang="cs-CZ" dirty="0" err="1"/>
              <a:t>google_id</a:t>
            </a:r>
            <a:r>
              <a:rPr lang="cs-CZ" dirty="0"/>
              <a:t>“.</a:t>
            </a:r>
          </a:p>
          <a:p>
            <a:endParaRPr lang="cs-CZ" dirty="0"/>
          </a:p>
          <a:p>
            <a:r>
              <a:rPr lang="cs-CZ" dirty="0"/>
              <a:t>A může samozřejmě obě varianty střídat </a:t>
            </a:r>
            <a:r>
              <a:rPr lang="cs-CZ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33487189-AC53-4EFB-AC51-88FCBECE310A}"/>
              </a:ext>
            </a:extLst>
          </p:cNvPr>
          <p:cNvSpPr/>
          <p:nvPr/>
        </p:nvSpPr>
        <p:spPr>
          <a:xfrm>
            <a:off x="6978437" y="2545976"/>
            <a:ext cx="1278836" cy="35672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D6E37AD2-BF7A-E18C-1C42-DD17EF07CF0C}"/>
              </a:ext>
            </a:extLst>
          </p:cNvPr>
          <p:cNvSpPr/>
          <p:nvPr/>
        </p:nvSpPr>
        <p:spPr>
          <a:xfrm>
            <a:off x="11259671" y="2545975"/>
            <a:ext cx="547626" cy="35672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168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A0E79A-05CB-49B0-953E-AC46C3562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6A9846A-7F51-4E71-BECF-EFF681696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04285CF5-F6F6-38F8-6130-775FFFEC8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4682FE67-6A45-472D-B18F-AA7CDE8E553D}"/>
              </a:ext>
            </a:extLst>
          </p:cNvPr>
          <p:cNvSpPr txBox="1"/>
          <p:nvPr/>
        </p:nvSpPr>
        <p:spPr>
          <a:xfrm>
            <a:off x="7782340" y="3722998"/>
            <a:ext cx="3937551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Ještě zkontrolujeme nastavení tabulky</a:t>
            </a:r>
          </a:p>
          <a:p>
            <a:r>
              <a:rPr lang="cs-CZ" dirty="0"/>
              <a:t>a můžeme se přesunout k PHP kódu.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919FBE92-1AA7-491A-A5F3-6B19163C04F1}"/>
              </a:ext>
            </a:extLst>
          </p:cNvPr>
          <p:cNvSpPr/>
          <p:nvPr/>
        </p:nvSpPr>
        <p:spPr>
          <a:xfrm>
            <a:off x="3104903" y="4468321"/>
            <a:ext cx="4604744" cy="74913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533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B45330-4B21-489A-9401-0140078EA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Implementace v PHP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842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26C51B-DA3A-4F6F-9C42-E28AB1222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6ACE65C-B180-4E92-8ED8-FEC6EA209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A21785EE-8B60-0540-8F97-BED8BB674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D1D442D7-C5CC-4E47-86A7-E82D6AB22985}"/>
              </a:ext>
            </a:extLst>
          </p:cNvPr>
          <p:cNvSpPr txBox="1"/>
          <p:nvPr/>
        </p:nvSpPr>
        <p:spPr>
          <a:xfrm>
            <a:off x="6679096" y="4529297"/>
            <a:ext cx="5093804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Aplikaci otevřeme v editoru ve stavu, v jakém jsme ji opustili na konci příkladu 11-local-login (aktuálně přejmenováno na adresář 12-google-login). Případně upravíme také cestu pro </a:t>
            </a:r>
            <a:r>
              <a:rPr lang="cs-CZ" dirty="0" err="1"/>
              <a:t>deploy</a:t>
            </a:r>
            <a:r>
              <a:rPr lang="cs-CZ" dirty="0"/>
              <a:t> na server.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50CFB83C-0770-4FF4-B6F4-5D03C8E5A16C}"/>
              </a:ext>
            </a:extLst>
          </p:cNvPr>
          <p:cNvSpPr/>
          <p:nvPr/>
        </p:nvSpPr>
        <p:spPr>
          <a:xfrm>
            <a:off x="697295" y="681037"/>
            <a:ext cx="3283034" cy="344272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684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E57D4A-CB06-4B65-9459-53D8DF8B3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4E24C7F-8667-4764-99D8-65E8898AB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3561F9A3-F52B-3A82-8493-0552838D9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E8EA2AA1-F3DE-436B-A39D-11809168BBA9}"/>
              </a:ext>
            </a:extLst>
          </p:cNvPr>
          <p:cNvSpPr txBox="1"/>
          <p:nvPr/>
        </p:nvSpPr>
        <p:spPr>
          <a:xfrm>
            <a:off x="5728448" y="2274838"/>
            <a:ext cx="6080312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Jako první úkon budeme potřebovat do závislostí doplnit knihovnu </a:t>
            </a:r>
            <a:r>
              <a:rPr lang="cs-CZ" dirty="0" err="1"/>
              <a:t>facebook</a:t>
            </a:r>
            <a:r>
              <a:rPr lang="cs-CZ" dirty="0"/>
              <a:t>/</a:t>
            </a:r>
            <a:r>
              <a:rPr lang="cs-CZ" dirty="0" err="1"/>
              <a:t>graph-sdk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/>
              <a:t>Pro instalaci použijeme </a:t>
            </a:r>
            <a:r>
              <a:rPr lang="cs-CZ" dirty="0" err="1"/>
              <a:t>composer</a:t>
            </a:r>
            <a:r>
              <a:rPr lang="cs-CZ" dirty="0"/>
              <a:t>, tj. spustíme příkaz</a:t>
            </a:r>
          </a:p>
          <a:p>
            <a:r>
              <a:rPr lang="en-US" i="1" dirty="0"/>
              <a:t>composer require league/oauth2-client</a:t>
            </a:r>
            <a:r>
              <a:rPr lang="cs-CZ" i="1" dirty="0"/>
              <a:t> </a:t>
            </a:r>
            <a:r>
              <a:rPr lang="en-US" i="1" dirty="0"/>
              <a:t>league/oauth2-google</a:t>
            </a:r>
            <a:endParaRPr lang="cs-CZ" i="1" dirty="0"/>
          </a:p>
          <a:p>
            <a:endParaRPr lang="cs-CZ" dirty="0"/>
          </a:p>
          <a:p>
            <a:r>
              <a:rPr lang="cs-CZ" dirty="0"/>
              <a:t>Alternativně bychom mohli k instalaci použít např. grafické rozhraní </a:t>
            </a:r>
            <a:r>
              <a:rPr lang="cs-CZ" dirty="0" err="1"/>
              <a:t>PhpStormu</a:t>
            </a:r>
            <a:r>
              <a:rPr lang="cs-CZ" dirty="0"/>
              <a:t>.</a:t>
            </a:r>
            <a:endParaRPr lang="en-US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D68922FD-98BA-4916-9BE3-34255CFCB48A}"/>
              </a:ext>
            </a:extLst>
          </p:cNvPr>
          <p:cNvSpPr/>
          <p:nvPr/>
        </p:nvSpPr>
        <p:spPr>
          <a:xfrm>
            <a:off x="3894384" y="5687521"/>
            <a:ext cx="4389003" cy="22918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4680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8496AF-13E9-498F-A247-3D27046AF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D0AA950-4CEC-4D4A-8273-1DFE98B60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8344B441-87B2-B34E-4338-D0BAC0271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384559E7-B9CA-4C2B-8464-5616395E386D}"/>
              </a:ext>
            </a:extLst>
          </p:cNvPr>
          <p:cNvSpPr txBox="1"/>
          <p:nvPr/>
        </p:nvSpPr>
        <p:spPr>
          <a:xfrm>
            <a:off x="7261412" y="3187145"/>
            <a:ext cx="4168589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 dokončení instalace zkontrolujeme soubor </a:t>
            </a:r>
            <a:r>
              <a:rPr lang="cs-CZ" dirty="0" err="1"/>
              <a:t>composer.json</a:t>
            </a:r>
            <a:r>
              <a:rPr lang="cs-CZ" dirty="0"/>
              <a:t> – přibyly nám v něm požadované balíčky.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9A843997-A952-4E8D-87E0-EC4800C3E4C8}"/>
              </a:ext>
            </a:extLst>
          </p:cNvPr>
          <p:cNvSpPr/>
          <p:nvPr/>
        </p:nvSpPr>
        <p:spPr>
          <a:xfrm>
            <a:off x="4759867" y="2469554"/>
            <a:ext cx="2815309" cy="49776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47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8D1B9F-288F-4407-83DD-B8D938A0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6FAB5B3-54A4-45F4-A047-5B1BA1E9E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0317B790-280F-3382-452A-DF4F00D55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3FB0DAD1-5308-4664-9543-E15709F1902A}"/>
              </a:ext>
            </a:extLst>
          </p:cNvPr>
          <p:cNvSpPr txBox="1"/>
          <p:nvPr/>
        </p:nvSpPr>
        <p:spPr>
          <a:xfrm>
            <a:off x="7835349" y="3116676"/>
            <a:ext cx="3937551" cy="28623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 můžeme se přesunout k vlastnímu psaní kódu.</a:t>
            </a:r>
          </a:p>
          <a:p>
            <a:endParaRPr lang="cs-CZ" dirty="0"/>
          </a:p>
          <a:p>
            <a:r>
              <a:rPr lang="cs-CZ" dirty="0"/>
              <a:t>Abychom neměli přístupové údaje k </a:t>
            </a:r>
            <a:r>
              <a:rPr lang="en-US" dirty="0"/>
              <a:t>Google</a:t>
            </a:r>
            <a:r>
              <a:rPr lang="cs-CZ" dirty="0"/>
              <a:t> API roztroušené na několika místech v aplikaci, zvolíme stejný přístup jako při připojení k databázi.</a:t>
            </a:r>
          </a:p>
          <a:p>
            <a:endParaRPr lang="cs-CZ" dirty="0"/>
          </a:p>
          <a:p>
            <a:r>
              <a:rPr lang="cs-CZ" dirty="0"/>
              <a:t>Nejprve si tedy založíme prázdný soubor</a:t>
            </a:r>
          </a:p>
          <a:p>
            <a:r>
              <a:rPr lang="cs-CZ" dirty="0"/>
              <a:t>„</a:t>
            </a:r>
            <a:r>
              <a:rPr lang="cs-CZ" dirty="0" err="1"/>
              <a:t>inc</a:t>
            </a:r>
            <a:r>
              <a:rPr lang="cs-CZ" dirty="0"/>
              <a:t>/</a:t>
            </a:r>
            <a:r>
              <a:rPr lang="en-US" dirty="0"/>
              <a:t>google</a:t>
            </a:r>
            <a:r>
              <a:rPr lang="cs-CZ" dirty="0"/>
              <a:t>.</a:t>
            </a:r>
            <a:r>
              <a:rPr lang="cs-CZ" dirty="0" err="1"/>
              <a:t>php</a:t>
            </a:r>
            <a:r>
              <a:rPr lang="cs-CZ" dirty="0"/>
              <a:t>“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7EDA3E75-3174-4A45-B4BA-068C5E58D609}"/>
              </a:ext>
            </a:extLst>
          </p:cNvPr>
          <p:cNvSpPr/>
          <p:nvPr/>
        </p:nvSpPr>
        <p:spPr>
          <a:xfrm>
            <a:off x="1131500" y="1633640"/>
            <a:ext cx="1331846" cy="26504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445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30FB75-FC59-4472-B683-49B54D1A6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4C1EFE-1ECD-430E-94D2-32D5C9015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91D73D3F-BBCD-796F-0251-68F730A9F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28E29A10-F090-4B7C-8145-72365E1F4DEA}"/>
              </a:ext>
            </a:extLst>
          </p:cNvPr>
          <p:cNvSpPr txBox="1"/>
          <p:nvPr/>
        </p:nvSpPr>
        <p:spPr>
          <a:xfrm>
            <a:off x="5141843" y="3315459"/>
            <a:ext cx="6631057" cy="253915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Ve vytvořeném souboru „</a:t>
            </a:r>
            <a:r>
              <a:rPr lang="cs-CZ" dirty="0" err="1"/>
              <a:t>inc</a:t>
            </a:r>
            <a:r>
              <a:rPr lang="cs-CZ" dirty="0"/>
              <a:t>/</a:t>
            </a:r>
            <a:r>
              <a:rPr lang="cs-CZ" dirty="0" err="1"/>
              <a:t>google.php</a:t>
            </a:r>
            <a:r>
              <a:rPr lang="cs-CZ" dirty="0"/>
              <a:t>“ inicializujeme objekt pro přístup k API. Kód odpovídá příkladu z dokumentace.</a:t>
            </a:r>
          </a:p>
          <a:p>
            <a:endParaRPr lang="cs-CZ" dirty="0"/>
          </a:p>
          <a:p>
            <a:r>
              <a:rPr lang="cs-CZ" dirty="0"/>
              <a:t>Nezapomeňte sem doplnit </a:t>
            </a:r>
            <a:r>
              <a:rPr lang="en-US" dirty="0" err="1"/>
              <a:t>clientId</a:t>
            </a:r>
            <a:r>
              <a:rPr lang="cs-CZ" dirty="0"/>
              <a:t> a </a:t>
            </a:r>
            <a:r>
              <a:rPr lang="en-US" dirty="0"/>
              <a:t>client</a:t>
            </a:r>
            <a:r>
              <a:rPr lang="cs-CZ" dirty="0"/>
              <a:t>S</a:t>
            </a:r>
            <a:r>
              <a:rPr lang="en-US" dirty="0" err="1"/>
              <a:t>ecret</a:t>
            </a:r>
            <a:r>
              <a:rPr lang="cs-CZ" dirty="0"/>
              <a:t>, které jste si poznamenali při nastavování aplikace na </a:t>
            </a:r>
            <a:r>
              <a:rPr lang="en-US" dirty="0" err="1"/>
              <a:t>Googlu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sz="1700" dirty="0">
                <a:solidFill>
                  <a:schemeClr val="bg1"/>
                </a:solidFill>
              </a:rPr>
              <a:t>Pokud se vám je náhodou povedlo zapomenout, </a:t>
            </a:r>
            <a:r>
              <a:rPr lang="cs-CZ" sz="1700" dirty="0" err="1">
                <a:solidFill>
                  <a:schemeClr val="bg1"/>
                </a:solidFill>
              </a:rPr>
              <a:t>přihlašte</a:t>
            </a:r>
            <a:r>
              <a:rPr lang="cs-CZ" sz="1700" dirty="0">
                <a:solidFill>
                  <a:schemeClr val="bg1"/>
                </a:solidFill>
              </a:rPr>
              <a:t> se na https://console.cloud.google.com/, otevřete danou aplikaci a přístupové údaje zkopírujte nyní.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EC6B7210-FFAD-49B1-8050-75DD1BFCE6BB}"/>
              </a:ext>
            </a:extLst>
          </p:cNvPr>
          <p:cNvSpPr/>
          <p:nvPr/>
        </p:nvSpPr>
        <p:spPr>
          <a:xfrm>
            <a:off x="3967463" y="1105252"/>
            <a:ext cx="6306089" cy="152917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71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2B77DF-1A61-424B-9F30-BF85F31FB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5986C93B-0F22-F636-4872-FE43B62BC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E45C4C7A-E0F5-433F-82C2-9A14DEB6E9AC}"/>
              </a:ext>
            </a:extLst>
          </p:cNvPr>
          <p:cNvSpPr txBox="1"/>
          <p:nvPr/>
        </p:nvSpPr>
        <p:spPr>
          <a:xfrm>
            <a:off x="7023653" y="1976989"/>
            <a:ext cx="4094922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Nejprve zkontrolujeme, jestli nám aplikace v původním stavu funguje a podíváme se, kam budeme chtít doplnit tlačítko na přihlášení pomocí Facebooku.</a:t>
            </a:r>
            <a:endParaRPr lang="cs-CZ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8957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877E31-AC1A-4578-82F3-7A5F9D32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6EBF7D8-EC6A-497E-84EE-EE030BF38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A461D572-EFDB-C95D-6201-699114FA2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46E4EC5A-A26E-4E60-8806-88177E4F66E4}"/>
              </a:ext>
            </a:extLst>
          </p:cNvPr>
          <p:cNvSpPr txBox="1"/>
          <p:nvPr/>
        </p:nvSpPr>
        <p:spPr>
          <a:xfrm>
            <a:off x="7055795" y="4184551"/>
            <a:ext cx="4876800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Přihlašovací tlačítko přidáme na </a:t>
            </a:r>
            <a:r>
              <a:rPr lang="cs-CZ" dirty="0" err="1"/>
              <a:t>homepage</a:t>
            </a:r>
            <a:r>
              <a:rPr lang="cs-CZ" dirty="0"/>
              <a:t>, vedle tlačítka na lokální přihlášení. </a:t>
            </a:r>
          </a:p>
          <a:p>
            <a:endParaRPr lang="cs-CZ" dirty="0"/>
          </a:p>
          <a:p>
            <a:r>
              <a:rPr lang="cs-CZ" dirty="0"/>
              <a:t>Dalším vhodným místem by byl přihlašovací formulář. Ideálně bychom měli mít toto tlačítko na obou místech, implementace by ale byla totožná.</a:t>
            </a:r>
            <a:br>
              <a:rPr lang="cs-CZ" dirty="0"/>
            </a:br>
            <a:r>
              <a:rPr lang="cs-CZ" dirty="0"/>
              <a:t>My volíme </a:t>
            </a:r>
            <a:r>
              <a:rPr lang="cs-CZ" dirty="0" err="1"/>
              <a:t>homepage</a:t>
            </a:r>
            <a:r>
              <a:rPr lang="cs-CZ" dirty="0"/>
              <a:t>, protože obsahuje výrazně méně jiného PHP kódu.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711FA18D-E53C-4AD6-8B9A-56081DD63B77}"/>
              </a:ext>
            </a:extLst>
          </p:cNvPr>
          <p:cNvSpPr/>
          <p:nvPr/>
        </p:nvSpPr>
        <p:spPr>
          <a:xfrm>
            <a:off x="4148707" y="3752509"/>
            <a:ext cx="2763081" cy="67917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09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8C8565-9DD1-4F7D-9184-00E9A1749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C1B3DEE-6DCA-49AF-BD6E-D1C9E2F92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" name="Obrázek 14">
            <a:extLst>
              <a:ext uri="{FF2B5EF4-FFF2-40B4-BE49-F238E27FC236}">
                <a16:creationId xmlns:a16="http://schemas.microsoft.com/office/drawing/2014/main" id="{D4478947-55E8-93EE-F269-ABDBC915F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8BA7064C-F4FF-4587-820D-D60361DB000C}"/>
              </a:ext>
            </a:extLst>
          </p:cNvPr>
          <p:cNvSpPr txBox="1"/>
          <p:nvPr/>
        </p:nvSpPr>
        <p:spPr>
          <a:xfrm>
            <a:off x="7705646" y="2055813"/>
            <a:ext cx="3937551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Pro přesměrování na Google login si připravíme soubor </a:t>
            </a:r>
            <a:r>
              <a:rPr lang="cs-CZ" dirty="0" err="1"/>
              <a:t>google-login.php</a:t>
            </a:r>
            <a:r>
              <a:rPr lang="cs-CZ" dirty="0"/>
              <a:t>, ve kterém načteme API klienta.</a:t>
            </a:r>
            <a:endParaRPr lang="en-US" dirty="0"/>
          </a:p>
          <a:p>
            <a:endParaRPr lang="en-US" dirty="0"/>
          </a:p>
          <a:p>
            <a:r>
              <a:rPr lang="en-US" dirty="0"/>
              <a:t>Pro ulo</a:t>
            </a:r>
            <a:r>
              <a:rPr lang="cs-CZ" dirty="0"/>
              <a:t>žení stavu pro ochranu před CSRF útoky budeme potřebovat také session.</a:t>
            </a:r>
            <a:r>
              <a:rPr lang="en-US" dirty="0"/>
              <a:t> </a:t>
            </a:r>
            <a:r>
              <a:rPr lang="en-US" dirty="0" err="1"/>
              <a:t>Stejn</a:t>
            </a:r>
            <a:r>
              <a:rPr lang="cs-CZ" dirty="0"/>
              <a:t>ě jako v jiných částech aplikace načteme soubor </a:t>
            </a:r>
            <a:r>
              <a:rPr lang="cs-CZ" dirty="0" err="1"/>
              <a:t>user.php</a:t>
            </a:r>
            <a:r>
              <a:rPr lang="cs-CZ" dirty="0"/>
              <a:t>.</a:t>
            </a:r>
            <a:endParaRPr lang="en-US" dirty="0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0DCEF992-DCD6-D71F-3313-0F7C86C60028}"/>
              </a:ext>
            </a:extLst>
          </p:cNvPr>
          <p:cNvSpPr/>
          <p:nvPr/>
        </p:nvSpPr>
        <p:spPr>
          <a:xfrm>
            <a:off x="3912507" y="724656"/>
            <a:ext cx="3295117" cy="198268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18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078909-0939-4E40-B20B-3DB603ABD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F57BFB-2B2D-4920-AF63-AA7E3F857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271E8F80-CD77-D818-68BE-F0EA4D3B2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01E61AA8-04FE-4730-B09E-CB5853670578}"/>
              </a:ext>
            </a:extLst>
          </p:cNvPr>
          <p:cNvSpPr txBox="1"/>
          <p:nvPr/>
        </p:nvSpPr>
        <p:spPr>
          <a:xfrm>
            <a:off x="7181686" y="4740461"/>
            <a:ext cx="4860237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Postup přihlášení bude takový, že si necháme sestavit Google adresu, na kterou budeme chtít uživatele přesměrovat. Pro větší bezpečnost si ještě uložíme „</a:t>
            </a:r>
            <a:r>
              <a:rPr lang="cs-CZ" dirty="0" err="1"/>
              <a:t>state</a:t>
            </a:r>
            <a:r>
              <a:rPr lang="cs-CZ" dirty="0"/>
              <a:t>“ pro ověření integrity.</a:t>
            </a:r>
          </a:p>
          <a:p>
            <a:endParaRPr lang="cs-CZ" dirty="0"/>
          </a:p>
          <a:p>
            <a:r>
              <a:rPr lang="cs-CZ" dirty="0"/>
              <a:t>A následně provedeme normální </a:t>
            </a:r>
            <a:r>
              <a:rPr lang="cs-CZ" dirty="0" err="1"/>
              <a:t>redirect</a:t>
            </a:r>
            <a:r>
              <a:rPr lang="cs-CZ" dirty="0"/>
              <a:t>…</a:t>
            </a:r>
            <a:endParaRPr lang="en-US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3B900CAC-3916-452D-BEDE-C2FBABDE3FCF}"/>
              </a:ext>
            </a:extLst>
          </p:cNvPr>
          <p:cNvSpPr/>
          <p:nvPr/>
        </p:nvSpPr>
        <p:spPr>
          <a:xfrm>
            <a:off x="4058282" y="2720645"/>
            <a:ext cx="5856684" cy="209587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00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F3039F-CC13-4DA3-9F6F-A2DE047ED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35F0411-DB3A-4FE9-A80B-59776308E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2C16CA22-B51F-6309-BFBD-53E53FEC4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F77C69C6-11A6-498C-9094-2F988B67CED4}"/>
              </a:ext>
            </a:extLst>
          </p:cNvPr>
          <p:cNvSpPr txBox="1"/>
          <p:nvPr/>
        </p:nvSpPr>
        <p:spPr>
          <a:xfrm>
            <a:off x="7883632" y="2896347"/>
            <a:ext cx="3937551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Pomocný soubor pro přihlášení máme hotový, můžeme tedy doplnit tlačítko do </a:t>
            </a:r>
            <a:r>
              <a:rPr lang="cs-CZ" dirty="0" err="1"/>
              <a:t>homepage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E658DC2A-E09C-4B1C-BD7A-9570F01532E4}"/>
              </a:ext>
            </a:extLst>
          </p:cNvPr>
          <p:cNvSpPr/>
          <p:nvPr/>
        </p:nvSpPr>
        <p:spPr>
          <a:xfrm>
            <a:off x="4166247" y="4115547"/>
            <a:ext cx="6564505" cy="47148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616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D5C93B-CCA0-4937-AB70-DBC25D118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A75E269-CC1E-40E9-937F-1FCA58D15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5F09274B-D317-A960-5EC0-028D3A59B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DF9DA759-5DC0-4973-8CF4-377CAF6C5BE6}"/>
              </a:ext>
            </a:extLst>
          </p:cNvPr>
          <p:cNvSpPr txBox="1"/>
          <p:nvPr/>
        </p:nvSpPr>
        <p:spPr>
          <a:xfrm>
            <a:off x="4596849" y="2128896"/>
            <a:ext cx="3937551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Ještě jsme k danému odkazu doplnili atribut </a:t>
            </a:r>
            <a:r>
              <a:rPr lang="cs-CZ" dirty="0" err="1"/>
              <a:t>class</a:t>
            </a:r>
            <a:r>
              <a:rPr lang="cs-CZ" dirty="0"/>
              <a:t> a poté vše zkontrolujeme v prohlížeči. Měli bychom vidět tlačítko, které bude odkazem někam na server Facebooku.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56851C68-794B-446F-9785-255E6092E164}"/>
              </a:ext>
            </a:extLst>
          </p:cNvPr>
          <p:cNvSpPr/>
          <p:nvPr/>
        </p:nvSpPr>
        <p:spPr>
          <a:xfrm>
            <a:off x="1912989" y="2128896"/>
            <a:ext cx="2105065" cy="46852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840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B48178-F1EE-402B-BE9F-98FDBD0D7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2904841-8796-41B8-9CE1-EFBDB2B00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" name="Obrázek 15">
            <a:extLst>
              <a:ext uri="{FF2B5EF4-FFF2-40B4-BE49-F238E27FC236}">
                <a16:creationId xmlns:a16="http://schemas.microsoft.com/office/drawing/2014/main" id="{D4B51647-EF06-3BA4-41A7-546C3DF13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050"/>
            <a:ext cx="12192000" cy="65659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DE0A86BD-2890-491E-8BCE-FCE0A3561714}"/>
              </a:ext>
            </a:extLst>
          </p:cNvPr>
          <p:cNvSpPr txBox="1"/>
          <p:nvPr/>
        </p:nvSpPr>
        <p:spPr>
          <a:xfrm>
            <a:off x="6854786" y="4347955"/>
            <a:ext cx="3937551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 kliknutí na něj se nám zobrazí klasické přihlašovací okno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Googlu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/>
              <a:t>POZOR: Aplikaci máme </a:t>
            </a:r>
            <a:r>
              <a:rPr lang="en-US" dirty="0" err="1"/>
              <a:t>ve</a:t>
            </a:r>
            <a:r>
              <a:rPr lang="en-US" dirty="0"/>
              <a:t> v</a:t>
            </a:r>
            <a:r>
              <a:rPr lang="cs-CZ" dirty="0" err="1"/>
              <a:t>ýchozím</a:t>
            </a:r>
            <a:r>
              <a:rPr lang="cs-CZ" dirty="0"/>
              <a:t> stavu v </a:t>
            </a:r>
            <a:r>
              <a:rPr lang="cs-CZ" dirty="0" err="1"/>
              <a:t>dev</a:t>
            </a:r>
            <a:r>
              <a:rPr lang="cs-CZ" dirty="0"/>
              <a:t> módu, při testování se mohou přihlásit jen povolení uživatelé.</a:t>
            </a:r>
          </a:p>
        </p:txBody>
      </p:sp>
    </p:spTree>
    <p:extLst>
      <p:ext uri="{BB962C8B-B14F-4D97-AF65-F5344CB8AC3E}">
        <p14:creationId xmlns:p14="http://schemas.microsoft.com/office/powerpoint/2010/main" val="17560128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852EF9-20C8-3530-D1BC-2EDDF71DA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206CAE7-CCF3-6156-0744-600EEDB87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B433587E-BDD0-1C3B-9402-8CE95BD0A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665F0331-500C-D0AE-80D8-28558B602518}"/>
              </a:ext>
            </a:extLst>
          </p:cNvPr>
          <p:cNvSpPr txBox="1"/>
          <p:nvPr/>
        </p:nvSpPr>
        <p:spPr>
          <a:xfrm>
            <a:off x="1924197" y="4231414"/>
            <a:ext cx="3937551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Na další obrazovce se Google uživatele zeptá, zda chce s vaší aplikací sdílet požadované údaje.</a:t>
            </a:r>
          </a:p>
        </p:txBody>
      </p:sp>
    </p:spTree>
    <p:extLst>
      <p:ext uri="{BB962C8B-B14F-4D97-AF65-F5344CB8AC3E}">
        <p14:creationId xmlns:p14="http://schemas.microsoft.com/office/powerpoint/2010/main" val="10587542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EF6BF5-98DF-4B8D-B0F0-514C01167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C70AF7-466B-47FC-A4BC-BDD854610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B76B0D5E-FE54-D1C5-0F5D-01011EDA5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D4BBD9CF-C327-4EE3-B5AD-1919241B5CCD}"/>
              </a:ext>
            </a:extLst>
          </p:cNvPr>
          <p:cNvSpPr txBox="1"/>
          <p:nvPr/>
        </p:nvSpPr>
        <p:spPr>
          <a:xfrm>
            <a:off x="6518414" y="1090523"/>
            <a:ext cx="5024229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 potvrzení přihlášení jsme přesměrováni na naši </a:t>
            </a:r>
            <a:r>
              <a:rPr lang="cs-CZ" dirty="0" err="1"/>
              <a:t>callback</a:t>
            </a:r>
            <a:r>
              <a:rPr lang="cs-CZ" dirty="0"/>
              <a:t> URL, tj. na soubor </a:t>
            </a:r>
            <a:r>
              <a:rPr lang="cs-CZ" dirty="0" err="1"/>
              <a:t>google-callback.php</a:t>
            </a:r>
            <a:r>
              <a:rPr lang="cs-CZ" dirty="0"/>
              <a:t>. Součástí odkazu jsou také parametry, pomocí kterých poté získáme další informace z Google účtu.</a:t>
            </a:r>
          </a:p>
          <a:p>
            <a:endParaRPr lang="cs-CZ" dirty="0"/>
          </a:p>
          <a:p>
            <a:r>
              <a:rPr lang="cs-CZ" dirty="0"/>
              <a:t>Jdeme tedy daný soubor vytvořit.</a:t>
            </a:r>
            <a:endParaRPr lang="en-US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12731B7D-BACE-4474-BF53-D443464E28CD}"/>
              </a:ext>
            </a:extLst>
          </p:cNvPr>
          <p:cNvSpPr/>
          <p:nvPr/>
        </p:nvSpPr>
        <p:spPr>
          <a:xfrm>
            <a:off x="1424607" y="375052"/>
            <a:ext cx="7931428" cy="46852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0724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73EA62-E712-4B4E-B34F-6AB7908A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C16059F-F957-4FDF-9171-CB4855EC4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12D1200A-2846-E913-7383-815BD2ADF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A5C6A949-0A91-497B-B61E-BE4BA9771926}"/>
              </a:ext>
            </a:extLst>
          </p:cNvPr>
          <p:cNvSpPr txBox="1"/>
          <p:nvPr/>
        </p:nvSpPr>
        <p:spPr>
          <a:xfrm>
            <a:off x="7835349" y="2645730"/>
            <a:ext cx="3937551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Začneme tím, že vytvoříme soubor </a:t>
            </a:r>
            <a:r>
              <a:rPr lang="en-US" dirty="0"/>
              <a:t>google</a:t>
            </a:r>
            <a:r>
              <a:rPr lang="cs-CZ" dirty="0"/>
              <a:t>-</a:t>
            </a:r>
            <a:r>
              <a:rPr lang="cs-CZ" dirty="0" err="1"/>
              <a:t>callback.php</a:t>
            </a:r>
            <a:r>
              <a:rPr lang="cs-CZ" dirty="0"/>
              <a:t> a načteme v něm inicializaci uživatele a </a:t>
            </a:r>
            <a:r>
              <a:rPr lang="en-US" dirty="0"/>
              <a:t>Google API</a:t>
            </a:r>
            <a:r>
              <a:rPr lang="cs-CZ" dirty="0"/>
              <a:t>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9AA82534-E231-4668-B809-D255F4041BDD}"/>
              </a:ext>
            </a:extLst>
          </p:cNvPr>
          <p:cNvSpPr/>
          <p:nvPr/>
        </p:nvSpPr>
        <p:spPr>
          <a:xfrm>
            <a:off x="3829487" y="742342"/>
            <a:ext cx="3717236" cy="190338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3870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C69E33-E56D-45F3-9D8A-2CD5EA39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AF7697-2BBE-40D9-81C7-3D9DD8A2E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41D93780-FF6C-C6E4-C850-5524476D3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DD7333D2-9AEC-4A4F-B107-7C2E927F97D6}"/>
              </a:ext>
            </a:extLst>
          </p:cNvPr>
          <p:cNvSpPr/>
          <p:nvPr/>
        </p:nvSpPr>
        <p:spPr>
          <a:xfrm>
            <a:off x="4034021" y="2686325"/>
            <a:ext cx="5746473" cy="215461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59703951-2D02-4E45-8531-FC4AAD919B22}"/>
              </a:ext>
            </a:extLst>
          </p:cNvPr>
          <p:cNvSpPr txBox="1"/>
          <p:nvPr/>
        </p:nvSpPr>
        <p:spPr>
          <a:xfrm>
            <a:off x="1389530" y="4813649"/>
            <a:ext cx="10668571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 m</a:t>
            </a:r>
            <a:r>
              <a:rPr lang="cs-CZ" dirty="0" err="1"/>
              <a:t>ůžeme</a:t>
            </a:r>
            <a:r>
              <a:rPr lang="cs-CZ" dirty="0"/>
              <a:t> jít na ověření dat. </a:t>
            </a:r>
          </a:p>
          <a:p>
            <a:endParaRPr lang="cs-CZ" dirty="0"/>
          </a:p>
          <a:p>
            <a:r>
              <a:rPr lang="cs-CZ" dirty="0"/>
              <a:t>Google nám pošle v URL 2 parametry, které budeme potřebovat – </a:t>
            </a:r>
            <a:r>
              <a:rPr lang="cs-CZ" dirty="0" err="1"/>
              <a:t>state</a:t>
            </a:r>
            <a:r>
              <a:rPr lang="cs-CZ" dirty="0"/>
              <a:t> a </a:t>
            </a:r>
            <a:r>
              <a:rPr lang="cs-CZ" dirty="0" err="1"/>
              <a:t>code</a:t>
            </a:r>
            <a:r>
              <a:rPr lang="cs-CZ" dirty="0"/>
              <a:t>. </a:t>
            </a:r>
          </a:p>
          <a:p>
            <a:r>
              <a:rPr lang="cs-CZ" dirty="0" err="1"/>
              <a:t>State</a:t>
            </a:r>
            <a:r>
              <a:rPr lang="cs-CZ" dirty="0"/>
              <a:t> použijeme k ověření vůči session (zda nejde o pokus o útok), </a:t>
            </a:r>
            <a:r>
              <a:rPr lang="cs-CZ" dirty="0" err="1"/>
              <a:t>code</a:t>
            </a:r>
            <a:r>
              <a:rPr lang="cs-CZ" dirty="0"/>
              <a:t> poté pro další práci.</a:t>
            </a:r>
          </a:p>
          <a:p>
            <a:endParaRPr lang="cs-CZ" dirty="0"/>
          </a:p>
          <a:p>
            <a:r>
              <a:rPr lang="cs-CZ" dirty="0"/>
              <a:t>Při chybě nyní pro zjednodušení končíme exitem, ale určitě bychom mohli uživatele poslat zpět na přihlášení jen se zobrazením chybové hlášky.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7181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AB1926-A352-4204-98DC-AB36FA40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2CDA547-8138-4F63-8E44-A9B0A839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16135BC1-29F1-70B4-69D7-F99AA60D0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428F32C9-DCCB-4179-9EF0-A3A59D1EEAF0}"/>
              </a:ext>
            </a:extLst>
          </p:cNvPr>
          <p:cNvSpPr txBox="1"/>
          <p:nvPr/>
        </p:nvSpPr>
        <p:spPr>
          <a:xfrm>
            <a:off x="6891421" y="128925"/>
            <a:ext cx="4908373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pomocí </a:t>
            </a:r>
            <a:r>
              <a:rPr lang="en-US" dirty="0"/>
              <a:t>code</a:t>
            </a:r>
            <a:r>
              <a:rPr lang="cs-CZ" dirty="0"/>
              <a:t> získáme token pro práci s API a načteme data o přihlášeném uživateli.</a:t>
            </a:r>
          </a:p>
          <a:p>
            <a:endParaRPr lang="cs-CZ" dirty="0"/>
          </a:p>
          <a:p>
            <a:r>
              <a:rPr lang="cs-CZ" dirty="0"/>
              <a:t>Opět trošku zjednodušujeme exitem – ale v produkční verzi bychom měli počítat s tím, že uživatel mohl přihlášení na Google straně např. odmítnout.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8584E746-DBD8-475E-9216-D0CD32B55C67}"/>
              </a:ext>
            </a:extLst>
          </p:cNvPr>
          <p:cNvSpPr/>
          <p:nvPr/>
        </p:nvSpPr>
        <p:spPr>
          <a:xfrm>
            <a:off x="3966686" y="2362795"/>
            <a:ext cx="4908373" cy="359291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193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0B66A6-B50B-4091-81B1-2D331DFDF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0D50CF84-BF30-93B6-16D9-009060EBE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615F5C67-49E1-44F2-A914-E2301C7FEAFE}"/>
              </a:ext>
            </a:extLst>
          </p:cNvPr>
          <p:cNvSpPr txBox="1"/>
          <p:nvPr/>
        </p:nvSpPr>
        <p:spPr>
          <a:xfrm>
            <a:off x="7705646" y="2106819"/>
            <a:ext cx="3937551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Ab</a:t>
            </a:r>
            <a:r>
              <a:rPr lang="cs-CZ" dirty="0" err="1"/>
              <a:t>ychom</a:t>
            </a:r>
            <a:r>
              <a:rPr lang="cs-CZ" dirty="0"/>
              <a:t> ověřili, že nám Google vrací potřebné údaje, můžeme si do kódu doplnit ladicí výpis a přihlásit se v prohlížeči do aplikace.</a:t>
            </a:r>
          </a:p>
          <a:p>
            <a:endParaRPr lang="cs-CZ" dirty="0"/>
          </a:p>
          <a:p>
            <a:r>
              <a:rPr lang="cs-CZ" dirty="0"/>
              <a:t>Po ověření tento výpis opět odstraníme a půjdeme na prohledání vlastní DB.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2B78A7A3-BBAD-481E-8C75-937CB873F23F}"/>
              </a:ext>
            </a:extLst>
          </p:cNvPr>
          <p:cNvSpPr/>
          <p:nvPr/>
        </p:nvSpPr>
        <p:spPr>
          <a:xfrm>
            <a:off x="3903927" y="4549685"/>
            <a:ext cx="3801719" cy="169527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9622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rázek 11">
            <a:extLst>
              <a:ext uri="{FF2B5EF4-FFF2-40B4-BE49-F238E27FC236}">
                <a16:creationId xmlns:a16="http://schemas.microsoft.com/office/drawing/2014/main" id="{2F2686ED-C863-DAB2-5EBB-E59EAD8C4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F4013B49-9156-4744-BA05-CFB235391747}"/>
              </a:ext>
            </a:extLst>
          </p:cNvPr>
          <p:cNvSpPr txBox="1"/>
          <p:nvPr/>
        </p:nvSpPr>
        <p:spPr>
          <a:xfrm>
            <a:off x="7130158" y="442725"/>
            <a:ext cx="4295360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 hlediska komunikace s Google je to vše. Další částí bude načtení daného uživatele z databáze, či naopak jeho uložení.</a:t>
            </a:r>
          </a:p>
          <a:p>
            <a:endParaRPr lang="cs-CZ" dirty="0"/>
          </a:p>
          <a:p>
            <a:r>
              <a:rPr lang="cs-CZ" dirty="0"/>
              <a:t>Nejprve se pokusíme vyhledat v databázi uživatele s daným User ID z Google účtu. 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A301311E-9ADE-4F30-9204-88E4F493860B}"/>
              </a:ext>
            </a:extLst>
          </p:cNvPr>
          <p:cNvSpPr/>
          <p:nvPr/>
        </p:nvSpPr>
        <p:spPr>
          <a:xfrm>
            <a:off x="1394792" y="2598568"/>
            <a:ext cx="6377608" cy="119350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3048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081C77-7974-42B8-8E0D-501C1F0D0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7367098-B630-4698-9091-8E7E6201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2C2049DA-633F-5E1F-E008-31D6C2507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C849065F-BF71-4256-B532-DD2943FE1F2D}"/>
              </a:ext>
            </a:extLst>
          </p:cNvPr>
          <p:cNvSpPr txBox="1"/>
          <p:nvPr/>
        </p:nvSpPr>
        <p:spPr>
          <a:xfrm>
            <a:off x="7866239" y="2065449"/>
            <a:ext cx="3937551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už daného uživatel v DB máme, jen načteme informace o daném uživateli, abychom je následně mohli použít pro uložení údajů do session. Tj. vlastně stejně, jako kdybychom použili lokální přihlášení e-mailem a heslem.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6FD80D53-72BE-4FBE-BE63-EFA9345B4D34}"/>
              </a:ext>
            </a:extLst>
          </p:cNvPr>
          <p:cNvSpPr/>
          <p:nvPr/>
        </p:nvSpPr>
        <p:spPr>
          <a:xfrm>
            <a:off x="1358933" y="3819775"/>
            <a:ext cx="4324691" cy="146043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926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0DFD55-ED9B-4C41-8217-597E7AAE5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937F6BC-CF69-4204-8C9B-57761519D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46164FE4-441A-E41E-21C8-8B74BBABD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178762C6-D1C1-4F8B-854D-E1D40F29352E}"/>
              </a:ext>
            </a:extLst>
          </p:cNvPr>
          <p:cNvSpPr txBox="1"/>
          <p:nvPr/>
        </p:nvSpPr>
        <p:spPr>
          <a:xfrm>
            <a:off x="6521922" y="4954713"/>
            <a:ext cx="434836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jsme uživatele nenašli podle </a:t>
            </a:r>
            <a:r>
              <a:rPr lang="en-US" dirty="0"/>
              <a:t>google</a:t>
            </a:r>
            <a:r>
              <a:rPr lang="cs-CZ" dirty="0"/>
              <a:t>_id</a:t>
            </a:r>
            <a:r>
              <a:rPr lang="en-US" dirty="0"/>
              <a:t>, </a:t>
            </a:r>
            <a:r>
              <a:rPr lang="cs-CZ" dirty="0"/>
              <a:t>zkusíme </a:t>
            </a:r>
            <a:r>
              <a:rPr lang="en-US" dirty="0" err="1"/>
              <a:t>hled</a:t>
            </a:r>
            <a:r>
              <a:rPr lang="cs-CZ" dirty="0" err="1"/>
              <a:t>ání</a:t>
            </a:r>
            <a:r>
              <a:rPr lang="cs-CZ" dirty="0"/>
              <a:t> podle e-mailu. 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46555A4D-0E6A-4489-A13A-480C49B51518}"/>
              </a:ext>
            </a:extLst>
          </p:cNvPr>
          <p:cNvSpPr/>
          <p:nvPr/>
        </p:nvSpPr>
        <p:spPr>
          <a:xfrm>
            <a:off x="1607018" y="2163974"/>
            <a:ext cx="6290887" cy="265580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3052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CFCB43-911F-4DEF-AB32-B947E240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957DCC7-1203-4FBD-9F23-4A9B7470C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7C8EE587-DD69-A40D-78DD-C3EE68069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7" name="Obdélník 6">
            <a:extLst>
              <a:ext uri="{FF2B5EF4-FFF2-40B4-BE49-F238E27FC236}">
                <a16:creationId xmlns:a16="http://schemas.microsoft.com/office/drawing/2014/main" id="{27292FC9-AA59-4AED-935D-DFFF1B9A5B7E}"/>
              </a:ext>
            </a:extLst>
          </p:cNvPr>
          <p:cNvSpPr/>
          <p:nvPr/>
        </p:nvSpPr>
        <p:spPr>
          <a:xfrm>
            <a:off x="1657495" y="3299012"/>
            <a:ext cx="7558223" cy="166665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56370548-83AD-4079-82A4-D6CAA7344591}"/>
              </a:ext>
            </a:extLst>
          </p:cNvPr>
          <p:cNvSpPr txBox="1"/>
          <p:nvPr/>
        </p:nvSpPr>
        <p:spPr>
          <a:xfrm>
            <a:off x="6921618" y="5046214"/>
            <a:ext cx="5010977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jsme našli uživatele se stejným e-mailem, znamená to, že se daný uživatel už dříve registroval s e-mailem a heslem, ale nyní použil Facebook.</a:t>
            </a:r>
          </a:p>
          <a:p>
            <a:endParaRPr lang="cs-CZ" dirty="0"/>
          </a:p>
          <a:p>
            <a:r>
              <a:rPr lang="cs-CZ" dirty="0"/>
              <a:t>Zaktualizujeme tedy záznam v databázi  - uložíme k uživateli ID z </a:t>
            </a:r>
            <a:r>
              <a:rPr lang="en-US" dirty="0"/>
              <a:t>Google </a:t>
            </a:r>
            <a:r>
              <a:rPr lang="cs-CZ" dirty="0"/>
              <a:t>účtu.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134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0371A0-C02C-435D-9394-53C4074EF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43C5BDB-DC70-40F7-8F57-22E0066F8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C135A2C2-DA95-7AF9-BD46-1598B9292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A7BC187B-9B27-4955-B425-DDE07AAE1435}"/>
              </a:ext>
            </a:extLst>
          </p:cNvPr>
          <p:cNvSpPr txBox="1"/>
          <p:nvPr/>
        </p:nvSpPr>
        <p:spPr>
          <a:xfrm>
            <a:off x="7898298" y="76636"/>
            <a:ext cx="3937551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jsme uživatele v databázi vůbec nenašli, zaregistrujeme uživatele nového. Všimněte si, že mu negenerujeme žádné heslo pro lokální přihlášení.</a:t>
            </a:r>
          </a:p>
          <a:p>
            <a:endParaRPr lang="cs-CZ" dirty="0"/>
          </a:p>
          <a:p>
            <a:r>
              <a:rPr lang="cs-CZ" dirty="0"/>
              <a:t>Po uložení uživatele získáme jeho údaje pro přihlášení v session.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8DD002D4-15DF-419A-8928-C40F7504C39B}"/>
              </a:ext>
            </a:extLst>
          </p:cNvPr>
          <p:cNvSpPr/>
          <p:nvPr/>
        </p:nvSpPr>
        <p:spPr>
          <a:xfrm>
            <a:off x="1640538" y="2725077"/>
            <a:ext cx="8615086" cy="290475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778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07956E-A2ED-4481-8383-F3A8D8064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E0EFC68-C28F-44E0-A56E-20D7D0859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C77C93E0-0A34-24D0-4049-E301A9442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8D87AB32-F33E-4BD3-AEF1-5265B0C74680}"/>
              </a:ext>
            </a:extLst>
          </p:cNvPr>
          <p:cNvSpPr txBox="1"/>
          <p:nvPr/>
        </p:nvSpPr>
        <p:spPr>
          <a:xfrm>
            <a:off x="6752666" y="4486150"/>
            <a:ext cx="3937551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 jdeme do finále. Pokud máme údaje daného uživatele v lokální databázi, odkud jsme je také následně načetli, uložíme údaje o přihlášení do session a uživatele přesměrujeme na </a:t>
            </a:r>
            <a:r>
              <a:rPr lang="cs-CZ" dirty="0" err="1"/>
              <a:t>homepage</a:t>
            </a:r>
            <a:r>
              <a:rPr lang="cs-CZ" dirty="0"/>
              <a:t>.</a:t>
            </a:r>
            <a:endParaRPr lang="en-US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7921E845-5391-48A6-8350-08F8DF7C109B}"/>
              </a:ext>
            </a:extLst>
          </p:cNvPr>
          <p:cNvSpPr/>
          <p:nvPr/>
        </p:nvSpPr>
        <p:spPr>
          <a:xfrm>
            <a:off x="1411941" y="3727470"/>
            <a:ext cx="4522694" cy="186000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605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991655-5A15-4AED-BBE9-1DA23D29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 to je vše </a:t>
            </a:r>
            <a:r>
              <a:rPr lang="cs-CZ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212D660-A11B-4510-9035-CC1143282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Nezapomeňte aplikaci otestovat…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6076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72B986-A985-4F42-AD46-8AC244118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9A2589-8D8A-44B1-8BD7-0A9E85BFD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195CB572-7382-D2B3-574F-CDA5B8EBB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76671A57-AB51-43BC-A663-A40F04EC4657}"/>
              </a:ext>
            </a:extLst>
          </p:cNvPr>
          <p:cNvSpPr txBox="1"/>
          <p:nvPr/>
        </p:nvSpPr>
        <p:spPr>
          <a:xfrm>
            <a:off x="6096000" y="3588465"/>
            <a:ext cx="4933948" cy="258532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Při testování byste měli ověřit, že pokud kliknete na tlačítko pro přihlášení pomocí Facebooku, jste obratem přihlášeni do aplikace s tím, že se vám účet normálně zapsal do databáze.</a:t>
            </a:r>
          </a:p>
          <a:p>
            <a:endParaRPr lang="cs-CZ" dirty="0"/>
          </a:p>
          <a:p>
            <a:r>
              <a:rPr lang="cs-CZ" dirty="0"/>
              <a:t>Následně s daným uživatelem můžete pracovat úplně totožně, jako kdyby šlo o uživatele registrovaného lokálně. Tj. stejné nastavení oprávnění atp. </a:t>
            </a:r>
            <a:r>
              <a:rPr lang="cs-CZ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18F66A5A-3A02-4930-AC01-10D727AA25F2}"/>
              </a:ext>
            </a:extLst>
          </p:cNvPr>
          <p:cNvSpPr/>
          <p:nvPr/>
        </p:nvSpPr>
        <p:spPr>
          <a:xfrm>
            <a:off x="968188" y="1825625"/>
            <a:ext cx="2437621" cy="77180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62399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1556</Words>
  <Application>Microsoft Office PowerPoint</Application>
  <PresentationFormat>Širokoúhlá obrazovka</PresentationFormat>
  <Paragraphs>123</Paragraphs>
  <Slides>49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49</vt:i4>
      </vt:variant>
    </vt:vector>
  </HeadingPairs>
  <TitlesOfParts>
    <vt:vector size="54" baseType="lpstr">
      <vt:lpstr>Arial</vt:lpstr>
      <vt:lpstr>Calibri</vt:lpstr>
      <vt:lpstr>Calibri Light</vt:lpstr>
      <vt:lpstr>Wingdings</vt:lpstr>
      <vt:lpstr>Motiv Office</vt:lpstr>
      <vt:lpstr>Ukázka přihlašování uživatelů pomocí Google účtu</vt:lpstr>
      <vt:lpstr>Registrace aplikace na Google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Úprava databáze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Implementace v PHP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A to je vše 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Stanislav Vojíř</dc:creator>
  <cp:lastModifiedBy>Stanislav Vojíř</cp:lastModifiedBy>
  <cp:revision>117</cp:revision>
  <dcterms:created xsi:type="dcterms:W3CDTF">2020-04-20T19:23:23Z</dcterms:created>
  <dcterms:modified xsi:type="dcterms:W3CDTF">2026-04-28T22:27:27Z</dcterms:modified>
</cp:coreProperties>
</file>